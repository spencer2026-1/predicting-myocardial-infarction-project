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6858000" cx="9144000"/>
  <p:notesSz cx="6858000" cy="9144000"/>
  <p:embeddedFontLst>
    <p:embeddedFont>
      <p:font typeface="Roboto Slab"/>
      <p:regular r:id="rId22"/>
      <p:bold r:id="rId23"/>
    </p:embeddedFont>
    <p:embeddedFont>
      <p:font typeface="Roboto Slab Light"/>
      <p:regular r:id="rId24"/>
      <p:bold r:id="rId25"/>
    </p:embeddedFont>
    <p:embeddedFont>
      <p:font typeface="Roboto Serif"/>
      <p:regular r:id="rId26"/>
      <p:bold r:id="rId27"/>
      <p:italic r:id="rId28"/>
      <p:boldItalic r:id="rId29"/>
    </p:embeddedFont>
    <p:embeddedFont>
      <p:font typeface="Roboto"/>
      <p:regular r:id="rId30"/>
      <p:bold r:id="rId31"/>
      <p:italic r:id="rId32"/>
      <p:boldItalic r:id="rId33"/>
    </p:embeddedFont>
    <p:embeddedFont>
      <p:font typeface="Roboto Slab ExtraBold"/>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5" roundtripDataSignature="AMtx7mip8MlxtIr5xTmtAoJGct2GMlRJ2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RobotoSlab-regular.fntdata"/><Relationship Id="rId21" Type="http://schemas.openxmlformats.org/officeDocument/2006/relationships/slide" Target="slides/slide16.xml"/><Relationship Id="rId24" Type="http://schemas.openxmlformats.org/officeDocument/2006/relationships/font" Target="fonts/RobotoSlabLight-regular.fntdata"/><Relationship Id="rId23" Type="http://schemas.openxmlformats.org/officeDocument/2006/relationships/font" Target="fonts/RobotoSlab-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Serif-regular.fntdata"/><Relationship Id="rId25" Type="http://schemas.openxmlformats.org/officeDocument/2006/relationships/font" Target="fonts/RobotoSlabLight-bold.fntdata"/><Relationship Id="rId28" Type="http://schemas.openxmlformats.org/officeDocument/2006/relationships/font" Target="fonts/RobotoSerif-italic.fntdata"/><Relationship Id="rId27" Type="http://schemas.openxmlformats.org/officeDocument/2006/relationships/font" Target="fonts/RobotoSerif-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Serif-bold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oboto-bold.fntdata"/><Relationship Id="rId30" Type="http://schemas.openxmlformats.org/officeDocument/2006/relationships/font" Target="fonts/Roboto-regular.fntdata"/><Relationship Id="rId11" Type="http://schemas.openxmlformats.org/officeDocument/2006/relationships/slide" Target="slides/slide6.xml"/><Relationship Id="rId33" Type="http://schemas.openxmlformats.org/officeDocument/2006/relationships/font" Target="fonts/Roboto-boldItalic.fntdata"/><Relationship Id="rId10" Type="http://schemas.openxmlformats.org/officeDocument/2006/relationships/slide" Target="slides/slide5.xml"/><Relationship Id="rId32" Type="http://schemas.openxmlformats.org/officeDocument/2006/relationships/font" Target="fonts/Roboto-italic.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RobotoSlabExtraBold-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aa8591508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aa8591508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800"/>
              </a:spcBef>
              <a:spcAft>
                <a:spcPts val="0"/>
              </a:spcAft>
              <a:buNone/>
            </a:pPr>
            <a:r>
              <a:rPr lang="en-US" sz="1200">
                <a:solidFill>
                  <a:schemeClr val="dk1"/>
                </a:solidFill>
                <a:latin typeface="Times New Roman"/>
                <a:ea typeface="Times New Roman"/>
                <a:cs typeface="Times New Roman"/>
                <a:sym typeface="Times New Roman"/>
              </a:rPr>
              <a:t>Myocardial infarction (MI) remains a leading cause of morbidity and mortality, and early identification of patients at risk for severe in-hospital complications remains a key challenge in clinical care. When patients arrive at the emergency department with MI, clinicians must rapidly assess their risk of developing severe in-hospital complications such as cardiogenic shock, acute heart failure, pulmonary edema, recurrent MI, or life-threatening arrhythmias. In certain cases, hospital resources such as ICU beds, cardiac monitoring equipment, and specialized staffing are limited, but early and accurate risk classification is vital for optimizing care and preventing major complications. Therefore, with this issue in mind, our project aims to use myocardial-risk patient data to predict whether individuals will experience major complications that could lead to lethal outcomes. </a:t>
            </a:r>
            <a:endParaRPr sz="1200">
              <a:solidFill>
                <a:schemeClr val="dk1"/>
              </a:solidFill>
              <a:latin typeface="Times New Roman"/>
              <a:ea typeface="Times New Roman"/>
              <a:cs typeface="Times New Roman"/>
              <a:sym typeface="Times New Roman"/>
            </a:endParaRPr>
          </a:p>
          <a:p>
            <a:pPr indent="0" lvl="0" marL="0" rtl="0" algn="l">
              <a:lnSpc>
                <a:spcPct val="150000"/>
              </a:lnSpc>
              <a:spcBef>
                <a:spcPts val="1800"/>
              </a:spcBef>
              <a:spcAft>
                <a:spcPts val="400"/>
              </a:spcAft>
              <a:buNone/>
            </a:pPr>
            <a:r>
              <a:rPr lang="en-US" sz="1200">
                <a:solidFill>
                  <a:schemeClr val="dk1"/>
                </a:solidFill>
                <a:latin typeface="Times New Roman"/>
                <a:ea typeface="Times New Roman"/>
                <a:cs typeface="Times New Roman"/>
                <a:sym typeface="Times New Roman"/>
              </a:rPr>
              <a:t> It was originally collected at the Krasnoyarsk Interdistrict Clinical Hospital and compiled by Krasnoyarsk State Medical University for use in research studies headed by S.E. Golonvenkin. We planned to use the data to build a machine learning model that predicts our selected target variable, a binary indicator called “Major_Complication,” which identifies whether a patient is at high risk of experiencing a major in-hospital event based solely on admission-time data. The target variable represents possible events such as cardiogenic shock, acute heart failure, pulmonary edema, recurrent MI, or life-threatening arrhythmias. By doing this, we believe that we’ll be capable of capturing clinically meaningful deterioration, supporting early risk stratification, and directly informing hospital decisions related to ICU monitoring, staffing, and emergency resource allocation.</a:t>
            </a:r>
            <a:endParaRPr sz="1200">
              <a:solidFill>
                <a:schemeClr val="dk1"/>
              </a:solidFill>
              <a:latin typeface="Times New Roman"/>
              <a:ea typeface="Times New Roman"/>
              <a:cs typeface="Times New Roman"/>
              <a:sym typeface="Times New Roman"/>
            </a:endParaRPr>
          </a:p>
        </p:txBody>
      </p:sp>
      <p:sp>
        <p:nvSpPr>
          <p:cNvPr id="73" name="Google Shape;7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aacd49ec51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aacd49ec5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Myocardial Infarction (heart attack) is a leading global cause of death.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It is a condition when blood flow to the heart is blocked, causing heart muscle tissue to die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When MI patients arrive at the emergency department, clinicians must quickly assess complication risk.</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Complications include cardiogenic shock, acute heart failure, pulmonary edema, recurrent MI, or deadly arrhythmias.</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aacd49ec51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aacd49ec5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acd49ec51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acd49ec5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ab73eeb74a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ab73eeb74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1200"/>
              </a:spcAft>
              <a:buNone/>
            </a:pPr>
            <a:r>
              <a:rPr lang="en-US" sz="1200">
                <a:solidFill>
                  <a:schemeClr val="dk1"/>
                </a:solidFill>
                <a:latin typeface="Times New Roman"/>
                <a:ea typeface="Times New Roman"/>
                <a:cs typeface="Times New Roman"/>
                <a:sym typeface="Times New Roman"/>
              </a:rPr>
              <a:t>Our exploratory analysis provides important initial insights into the dataset before building our prediction model, particularly regarding age distribution and target class balance. As shown in the Age Distribution box plot, the patient population follows an approximately normal distribution but is skewed toward an older demographic, with the highest frequency occurring between ages 60 and 70. This suggests that the medical complications being studied are most prevalent among older adults. From the box plot, there is a noticeable drop-off in patients younger than 40 and older than 85, indicating that these extreme age groups are underrepresented in the cohort.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acd49ec51_0_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aacd49ec51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3aa8591508c_0_66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3aa8591508c_0_6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1200"/>
              </a:spcAft>
              <a:buNone/>
            </a:pPr>
            <a:r>
              <a:rPr lang="en-US" sz="1200">
                <a:solidFill>
                  <a:schemeClr val="dk1"/>
                </a:solidFill>
                <a:latin typeface="Times New Roman"/>
                <a:ea typeface="Times New Roman"/>
                <a:cs typeface="Times New Roman"/>
                <a:sym typeface="Times New Roman"/>
              </a:rPr>
              <a:t>By comparing the original confusion matrix (without preprocessing) to the post-pruned model shown above, we see a substantial improvement in performance: overall accuracy increased from 76.47% to 88.82%. The class distribution remains the same but, now in the filtered model, Class 0 achieves a strong precision of 89% for identifying low-risk MI patients, while Class 1 reaches an even higher precision of 94% for identifying high-risk patients. However, an important concern persists, as the model continues to exhibit low recall for Class 1 (0.31), indicating that 69% of high-risk patients are missed / misclassified as low-risk despite its high precision.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aa8591508c_0_6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aa8591508c_0_6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0"/>
              </a:spcAft>
              <a:buNone/>
            </a:pPr>
            <a:r>
              <a:t/>
            </a:r>
            <a:endParaRPr b="1" i="1" sz="1200">
              <a:solidFill>
                <a:schemeClr val="dk1"/>
              </a:solidFill>
              <a:latin typeface="Times New Roman"/>
              <a:ea typeface="Times New Roman"/>
              <a:cs typeface="Times New Roman"/>
              <a:sym typeface="Times New Roman"/>
            </a:endParaRPr>
          </a:p>
          <a:p>
            <a:pPr indent="-304800" lvl="0" marL="457200" rtl="0" algn="l">
              <a:lnSpc>
                <a:spcPct val="150000"/>
              </a:lnSpc>
              <a:spcBef>
                <a:spcPts val="1200"/>
              </a:spcBef>
              <a:spcAft>
                <a:spcPts val="0"/>
              </a:spcAft>
              <a:buClr>
                <a:schemeClr val="dk1"/>
              </a:buClr>
              <a:buSzPts val="1200"/>
              <a:buFont typeface="Times New Roman"/>
              <a:buChar char="●"/>
            </a:pPr>
            <a:r>
              <a:rPr b="1" i="1" lang="en-US" sz="1200">
                <a:solidFill>
                  <a:schemeClr val="dk1"/>
                </a:solidFill>
                <a:latin typeface="Times New Roman"/>
                <a:ea typeface="Times New Roman"/>
                <a:cs typeface="Times New Roman"/>
                <a:sym typeface="Times New Roman"/>
              </a:rPr>
              <a:t>Summary</a:t>
            </a:r>
            <a:r>
              <a:rPr lang="en-US" sz="1200">
                <a:solidFill>
                  <a:schemeClr val="dk1"/>
                </a:solidFill>
                <a:latin typeface="Times New Roman"/>
                <a:ea typeface="Times New Roman"/>
                <a:cs typeface="Times New Roman"/>
                <a:sym typeface="Times New Roman"/>
              </a:rPr>
              <a:t>: The Post-pruned Decision Tree has excellent precision but missed a majority of high-risk MI patients. This would be extremely dangerous in a medical context. Once we applied SMOTE, we discovered that it improves on catching  high-risk MI patients (higher recall). The accuracies are stable, but there is a small trade-off in precision as more low-risk MI patients are falsely classified as high-risk. In conclusion, SMOTE improves the model’s ability to detect high-risk MI patients, which is an important clinical priority, at the cost of more false alarms.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aacd49ec51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aacd49ec51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aacd49ec51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aacd49ec51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aacd49ec51_0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aacd49ec5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aa8591508c_0_67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aa8591508c_0_6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50000"/>
              </a:lnSpc>
              <a:spcBef>
                <a:spcPts val="1200"/>
              </a:spcBef>
              <a:spcAft>
                <a:spcPts val="1200"/>
              </a:spcAft>
              <a:buClr>
                <a:schemeClr val="dk1"/>
              </a:buClr>
              <a:buSzPts val="1100"/>
              <a:buFont typeface="Arial"/>
              <a:buNone/>
            </a:pPr>
            <a:r>
              <a:rPr b="1" i="1" lang="en-US" sz="1200">
                <a:solidFill>
                  <a:schemeClr val="dk1"/>
                </a:solidFill>
                <a:latin typeface="Times New Roman"/>
                <a:ea typeface="Times New Roman"/>
                <a:cs typeface="Times New Roman"/>
                <a:sym typeface="Times New Roman"/>
              </a:rPr>
              <a:t>Conclusion</a:t>
            </a:r>
            <a:r>
              <a:rPr lang="en-US" sz="1200">
                <a:solidFill>
                  <a:schemeClr val="dk1"/>
                </a:solidFill>
                <a:latin typeface="Times New Roman"/>
                <a:ea typeface="Times New Roman"/>
                <a:cs typeface="Times New Roman"/>
                <a:sym typeface="Times New Roman"/>
              </a:rPr>
              <a:t>: While the Post-Pruned Decision Tree technically has high precision, it is likely under-fitting the minority class (Class 1) due to aggressive pruning. Ultimately, we determined that for our case of predicting major complications for MI patients, the Random Forest Classifier is the superior model. </a:t>
            </a:r>
            <a:r>
              <a:rPr b="1" lang="en-US" sz="1200">
                <a:solidFill>
                  <a:schemeClr val="dk1"/>
                </a:solidFill>
                <a:latin typeface="Times New Roman"/>
                <a:ea typeface="Times New Roman"/>
                <a:cs typeface="Times New Roman"/>
                <a:sym typeface="Times New Roman"/>
              </a:rPr>
              <a:t>Out of all the models we generated, the Random Forest Model achieves the highest percentage (57%) in correctly identifying high-risk MI patients, which is crucial within a clinical setting.</a:t>
            </a:r>
            <a:r>
              <a:rPr lang="en-US" sz="1200">
                <a:solidFill>
                  <a:schemeClr val="dk1"/>
                </a:solidFill>
                <a:latin typeface="Times New Roman"/>
                <a:ea typeface="Times New Roman"/>
                <a:cs typeface="Times New Roman"/>
                <a:sym typeface="Times New Roman"/>
              </a:rPr>
              <a:t> It provides a much more functional coverage of the dataset, capturing significantly more positive instances while maintaining acceptable accuracy.</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800"/>
              </a:spcBef>
              <a:spcAft>
                <a:spcPts val="0"/>
              </a:spcAft>
              <a:buClr>
                <a:schemeClr val="dk1"/>
              </a:buClr>
              <a:buSzPts val="1100"/>
              <a:buFont typeface="Arial"/>
              <a:buNone/>
            </a:pPr>
            <a:r>
              <a:rPr b="1" lang="en-US" sz="1200">
                <a:solidFill>
                  <a:schemeClr val="dk1"/>
                </a:solidFill>
              </a:rPr>
              <a:t>Business Interpretation and Managerial Implications</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If implemented in a clinical setting, the findings from this project could meaningfully assist hospitals in making operational decisions: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1200">
                <a:solidFill>
                  <a:schemeClr val="dk1"/>
                </a:solidFill>
              </a:rPr>
              <a:t>Improved Resource Allocation</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Our Random Forest model identifies </a:t>
            </a:r>
            <a:r>
              <a:rPr b="1" lang="en-US" sz="1200">
                <a:solidFill>
                  <a:schemeClr val="dk1"/>
                </a:solidFill>
                <a:latin typeface="Times New Roman"/>
                <a:ea typeface="Times New Roman"/>
                <a:cs typeface="Times New Roman"/>
                <a:sym typeface="Times New Roman"/>
              </a:rPr>
              <a:t>more than half of high-risk MI cases at admission</a:t>
            </a:r>
            <a:r>
              <a:rPr lang="en-US" sz="1200">
                <a:solidFill>
                  <a:schemeClr val="dk1"/>
                </a:solidFill>
                <a:latin typeface="Times New Roman"/>
                <a:ea typeface="Times New Roman"/>
                <a:cs typeface="Times New Roman"/>
                <a:sym typeface="Times New Roman"/>
              </a:rPr>
              <a:t>. This gives hospitals the ability to prioritize ICU beds, continuous cardiac monitoring, and specialist intervention for the right patients. Early identification reduces delays in care and can lower the rate of sudden deterioration.</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1200">
                <a:solidFill>
                  <a:schemeClr val="dk1"/>
                </a:solidFill>
              </a:rPr>
              <a:t>Reduction of Costly Complications</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High-risk MI events often lead to extended ICU stays, emergency interventions, and greater use of staff time. By correctly classifying these patients earlier, hospitals can prevent severe downstream operational complications, which translates into:</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120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lower treatment costs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reduced readmission penalties</a:t>
            </a:r>
            <a:endParaRPr sz="1200">
              <a:solidFill>
                <a:schemeClr val="dk1"/>
              </a:solidFill>
              <a:latin typeface="Times New Roman"/>
              <a:ea typeface="Times New Roman"/>
              <a:cs typeface="Times New Roman"/>
              <a:sym typeface="Times New Roman"/>
            </a:endParaRPr>
          </a:p>
          <a:p>
            <a:pPr indent="-304800" lvl="0" marL="457200" rtl="0" algn="l">
              <a:lnSpc>
                <a:spcPct val="115000"/>
              </a:lnSpc>
              <a:spcBef>
                <a:spcPts val="0"/>
              </a:spcBef>
              <a:spcAft>
                <a:spcPts val="0"/>
              </a:spcAft>
              <a:buClr>
                <a:schemeClr val="dk1"/>
              </a:buClr>
              <a:buSzPts val="1200"/>
              <a:buFont typeface="Times New Roman"/>
              <a:buChar char="●"/>
            </a:pPr>
            <a:r>
              <a:rPr lang="en-US" sz="1200">
                <a:solidFill>
                  <a:schemeClr val="dk1"/>
                </a:solidFill>
                <a:latin typeface="Times New Roman"/>
                <a:ea typeface="Times New Roman"/>
                <a:cs typeface="Times New Roman"/>
                <a:sym typeface="Times New Roman"/>
              </a:rPr>
              <a:t>improved survival outcome</a:t>
            </a:r>
            <a:r>
              <a:rPr lang="en-US" sz="1200">
                <a:solidFill>
                  <a:schemeClr val="dk1"/>
                </a:solidFill>
                <a:latin typeface="Times New Roman"/>
                <a:ea typeface="Times New Roman"/>
                <a:cs typeface="Times New Roman"/>
                <a:sym typeface="Times New Roman"/>
              </a:rPr>
              <a:t>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400"/>
              </a:spcBef>
              <a:spcAft>
                <a:spcPts val="0"/>
              </a:spcAft>
              <a:buClr>
                <a:schemeClr val="dk1"/>
              </a:buClr>
              <a:buSzPts val="1100"/>
              <a:buFont typeface="Arial"/>
              <a:buNone/>
            </a:pPr>
            <a:r>
              <a:rPr b="1" lang="en-US" sz="1200">
                <a:solidFill>
                  <a:schemeClr val="dk1"/>
                </a:solidFill>
              </a:rPr>
              <a:t>Acceptable Rate of False Positives</a:t>
            </a:r>
            <a:endParaRPr b="1" sz="1200">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US" sz="1200">
                <a:solidFill>
                  <a:schemeClr val="dk1"/>
                </a:solidFill>
                <a:latin typeface="Times New Roman"/>
                <a:ea typeface="Times New Roman"/>
                <a:cs typeface="Times New Roman"/>
                <a:sym typeface="Times New Roman"/>
              </a:rPr>
              <a:t>The Random Forest generated 11 false positives (patients incorrectly identified as high-risk). From a business operations standpoint, this is a manageable cost, particularly compared to the risk of missing true high-risk patients. </a:t>
            </a:r>
            <a:endParaRPr sz="12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p:txBody>
      </p:sp>
      <p:sp>
        <p:nvSpPr>
          <p:cNvPr id="180" name="Google Shape;180;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g3aa8591508c_0_603"/>
          <p:cNvSpPr/>
          <p:nvPr/>
        </p:nvSpPr>
        <p:spPr>
          <a:xfrm>
            <a:off x="1524800" y="896808"/>
            <a:ext cx="1081625" cy="1499896"/>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sp>
        <p:nvSpPr>
          <p:cNvPr id="11" name="Google Shape;11;g3aa8591508c_0_603"/>
          <p:cNvSpPr/>
          <p:nvPr/>
        </p:nvSpPr>
        <p:spPr>
          <a:xfrm rot="10800000">
            <a:off x="6537563" y="4457271"/>
            <a:ext cx="1081625" cy="1499896"/>
          </a:xfrm>
          <a:custGeom>
            <a:rect b="b" l="l" r="r" t="t"/>
            <a:pathLst>
              <a:path extrusionOk="0" h="44998" w="43265">
                <a:moveTo>
                  <a:pt x="0" y="44998"/>
                </a:moveTo>
                <a:lnTo>
                  <a:pt x="0" y="0"/>
                </a:lnTo>
                <a:lnTo>
                  <a:pt x="43265" y="0"/>
                </a:lnTo>
              </a:path>
            </a:pathLst>
          </a:custGeom>
          <a:noFill/>
          <a:ln cap="flat" cmpd="sng" w="28575">
            <a:solidFill>
              <a:schemeClr val="accent5"/>
            </a:solidFill>
            <a:prstDash val="solid"/>
            <a:miter lim="8000"/>
            <a:headEnd len="sm" w="sm" type="none"/>
            <a:tailEnd len="sm" w="sm" type="none"/>
          </a:ln>
        </p:spPr>
      </p:sp>
      <p:cxnSp>
        <p:nvCxnSpPr>
          <p:cNvPr id="12" name="Google Shape;12;g3aa8591508c_0_603"/>
          <p:cNvCxnSpPr/>
          <p:nvPr/>
        </p:nvCxnSpPr>
        <p:spPr>
          <a:xfrm>
            <a:off x="4359602" y="3756618"/>
            <a:ext cx="424800" cy="0"/>
          </a:xfrm>
          <a:prstGeom prst="straightConnector1">
            <a:avLst/>
          </a:prstGeom>
          <a:noFill/>
          <a:ln cap="flat" cmpd="sng" w="38100">
            <a:solidFill>
              <a:schemeClr val="accent4"/>
            </a:solidFill>
            <a:prstDash val="solid"/>
            <a:round/>
            <a:headEnd len="sm" w="sm" type="none"/>
            <a:tailEnd len="sm" w="sm" type="none"/>
          </a:ln>
        </p:spPr>
      </p:cxnSp>
      <p:sp>
        <p:nvSpPr>
          <p:cNvPr id="13" name="Google Shape;13;g3aa8591508c_0_603"/>
          <p:cNvSpPr txBox="1"/>
          <p:nvPr>
            <p:ph type="ctrTitle"/>
          </p:nvPr>
        </p:nvSpPr>
        <p:spPr>
          <a:xfrm>
            <a:off x="1680302" y="1585234"/>
            <a:ext cx="5783400" cy="1943100"/>
          </a:xfrm>
          <a:prstGeom prst="rect">
            <a:avLst/>
          </a:prstGeom>
        </p:spPr>
        <p:txBody>
          <a:bodyPr anchorCtr="0" anchor="b" bIns="91425" lIns="91425" spcFirstLastPara="1" rIns="91425" wrap="square" tIns="91425">
            <a:normAutofit/>
          </a:bodyPr>
          <a:lstStyle>
            <a:lvl1pPr lvl="0" algn="ctr">
              <a:spcBef>
                <a:spcPts val="0"/>
              </a:spcBef>
              <a:spcAft>
                <a:spcPts val="0"/>
              </a:spcAft>
              <a:buSzPts val="4000"/>
              <a:buNone/>
              <a:defRPr sz="4000"/>
            </a:lvl1pPr>
            <a:lvl2pPr lvl="1" algn="ctr">
              <a:spcBef>
                <a:spcPts val="0"/>
              </a:spcBef>
              <a:spcAft>
                <a:spcPts val="0"/>
              </a:spcAft>
              <a:buSzPts val="4000"/>
              <a:buNone/>
              <a:defRPr sz="4000"/>
            </a:lvl2pPr>
            <a:lvl3pPr lvl="2" algn="ctr">
              <a:spcBef>
                <a:spcPts val="0"/>
              </a:spcBef>
              <a:spcAft>
                <a:spcPts val="0"/>
              </a:spcAft>
              <a:buSzPts val="4000"/>
              <a:buNone/>
              <a:defRPr sz="4000"/>
            </a:lvl3pPr>
            <a:lvl4pPr lvl="3" algn="ctr">
              <a:spcBef>
                <a:spcPts val="0"/>
              </a:spcBef>
              <a:spcAft>
                <a:spcPts val="0"/>
              </a:spcAft>
              <a:buSzPts val="4000"/>
              <a:buNone/>
              <a:defRPr sz="4000"/>
            </a:lvl4pPr>
            <a:lvl5pPr lvl="4" algn="ctr">
              <a:spcBef>
                <a:spcPts val="0"/>
              </a:spcBef>
              <a:spcAft>
                <a:spcPts val="0"/>
              </a:spcAft>
              <a:buSzPts val="4000"/>
              <a:buNone/>
              <a:defRPr sz="4000"/>
            </a:lvl5pPr>
            <a:lvl6pPr lvl="5" algn="ctr">
              <a:spcBef>
                <a:spcPts val="0"/>
              </a:spcBef>
              <a:spcAft>
                <a:spcPts val="0"/>
              </a:spcAft>
              <a:buSzPts val="4000"/>
              <a:buNone/>
              <a:defRPr sz="4000"/>
            </a:lvl6pPr>
            <a:lvl7pPr lvl="6" algn="ctr">
              <a:spcBef>
                <a:spcPts val="0"/>
              </a:spcBef>
              <a:spcAft>
                <a:spcPts val="0"/>
              </a:spcAft>
              <a:buSzPts val="4000"/>
              <a:buNone/>
              <a:defRPr sz="4000"/>
            </a:lvl7pPr>
            <a:lvl8pPr lvl="7" algn="ctr">
              <a:spcBef>
                <a:spcPts val="0"/>
              </a:spcBef>
              <a:spcAft>
                <a:spcPts val="0"/>
              </a:spcAft>
              <a:buSzPts val="4000"/>
              <a:buNone/>
              <a:defRPr sz="4000"/>
            </a:lvl8pPr>
            <a:lvl9pPr lvl="8" algn="ctr">
              <a:spcBef>
                <a:spcPts val="0"/>
              </a:spcBef>
              <a:spcAft>
                <a:spcPts val="0"/>
              </a:spcAft>
              <a:buSzPts val="4000"/>
              <a:buNone/>
              <a:defRPr sz="4000"/>
            </a:lvl9pPr>
          </a:lstStyle>
          <a:p/>
        </p:txBody>
      </p:sp>
      <p:sp>
        <p:nvSpPr>
          <p:cNvPr id="14" name="Google Shape;14;g3aa8591508c_0_603"/>
          <p:cNvSpPr txBox="1"/>
          <p:nvPr>
            <p:ph idx="1" type="subTitle"/>
          </p:nvPr>
        </p:nvSpPr>
        <p:spPr>
          <a:xfrm>
            <a:off x="1680302" y="4065933"/>
            <a:ext cx="5783400" cy="1212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1pPr>
            <a:lvl2pPr lvl="1"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2pPr>
            <a:lvl3pPr lvl="2"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3pPr>
            <a:lvl4pPr lvl="3"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4pPr>
            <a:lvl5pPr lvl="4"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5pPr>
            <a:lvl6pPr lvl="5"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6pPr>
            <a:lvl7pPr lvl="6"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7pPr>
            <a:lvl8pPr lvl="7"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8pPr>
            <a:lvl9pPr lvl="8" algn="ctr">
              <a:lnSpc>
                <a:spcPct val="100000"/>
              </a:lnSpc>
              <a:spcBef>
                <a:spcPts val="0"/>
              </a:spcBef>
              <a:spcAft>
                <a:spcPts val="0"/>
              </a:spcAft>
              <a:buClr>
                <a:schemeClr val="accent5"/>
              </a:buClr>
              <a:buSzPts val="2400"/>
              <a:buFont typeface="Roboto Slab"/>
              <a:buNone/>
              <a:defRPr sz="2400">
                <a:solidFill>
                  <a:schemeClr val="accent5"/>
                </a:solidFill>
                <a:latin typeface="Roboto Slab"/>
                <a:ea typeface="Roboto Slab"/>
                <a:cs typeface="Roboto Slab"/>
                <a:sym typeface="Roboto Slab"/>
              </a:defRPr>
            </a:lvl9pPr>
          </a:lstStyle>
          <a:p/>
        </p:txBody>
      </p:sp>
      <p:sp>
        <p:nvSpPr>
          <p:cNvPr id="15" name="Google Shape;15;g3aa8591508c_0_60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cxnSp>
        <p:nvCxnSpPr>
          <p:cNvPr id="17" name="Google Shape;17;g3aa8591508c_0_610"/>
          <p:cNvCxnSpPr/>
          <p:nvPr/>
        </p:nvCxnSpPr>
        <p:spPr>
          <a:xfrm>
            <a:off x="4359602" y="3756618"/>
            <a:ext cx="424800" cy="0"/>
          </a:xfrm>
          <a:prstGeom prst="straightConnector1">
            <a:avLst/>
          </a:prstGeom>
          <a:noFill/>
          <a:ln cap="flat" cmpd="sng" w="38100">
            <a:solidFill>
              <a:schemeClr val="accent4"/>
            </a:solidFill>
            <a:prstDash val="solid"/>
            <a:round/>
            <a:headEnd len="sm" w="sm" type="none"/>
            <a:tailEnd len="sm" w="sm" type="none"/>
          </a:ln>
        </p:spPr>
      </p:cxnSp>
      <p:sp>
        <p:nvSpPr>
          <p:cNvPr id="18" name="Google Shape;18;g3aa8591508c_0_610"/>
          <p:cNvSpPr txBox="1"/>
          <p:nvPr>
            <p:ph type="title"/>
          </p:nvPr>
        </p:nvSpPr>
        <p:spPr>
          <a:xfrm>
            <a:off x="480750" y="2353267"/>
            <a:ext cx="8222100" cy="1209900"/>
          </a:xfrm>
          <a:prstGeom prst="rect">
            <a:avLst/>
          </a:prstGeom>
        </p:spPr>
        <p:txBody>
          <a:bodyPr anchorCtr="0" anchor="b"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9" name="Google Shape;19;g3aa8591508c_0_6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0" name="Shape 20"/>
        <p:cNvGrpSpPr/>
        <p:nvPr/>
      </p:nvGrpSpPr>
      <p:grpSpPr>
        <a:xfrm>
          <a:off x="0" y="0"/>
          <a:ext cx="0" cy="0"/>
          <a:chOff x="0" y="0"/>
          <a:chExt cx="0" cy="0"/>
        </a:xfrm>
      </p:grpSpPr>
      <p:cxnSp>
        <p:nvCxnSpPr>
          <p:cNvPr id="21" name="Google Shape;21;g3aa8591508c_0_614"/>
          <p:cNvCxnSpPr/>
          <p:nvPr/>
        </p:nvCxnSpPr>
        <p:spPr>
          <a:xfrm>
            <a:off x="492563" y="1680378"/>
            <a:ext cx="424800" cy="0"/>
          </a:xfrm>
          <a:prstGeom prst="straightConnector1">
            <a:avLst/>
          </a:prstGeom>
          <a:noFill/>
          <a:ln cap="flat" cmpd="sng" w="38100">
            <a:solidFill>
              <a:schemeClr val="accent4"/>
            </a:solidFill>
            <a:prstDash val="solid"/>
            <a:round/>
            <a:headEnd len="sm" w="sm" type="none"/>
            <a:tailEnd len="sm" w="sm" type="none"/>
          </a:ln>
        </p:spPr>
      </p:cxnSp>
      <p:sp>
        <p:nvSpPr>
          <p:cNvPr id="22" name="Google Shape;22;g3aa8591508c_0_614"/>
          <p:cNvSpPr txBox="1"/>
          <p:nvPr>
            <p:ph type="title"/>
          </p:nvPr>
        </p:nvSpPr>
        <p:spPr>
          <a:xfrm>
            <a:off x="387900" y="610700"/>
            <a:ext cx="8368200" cy="914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3" name="Google Shape;23;g3aa8591508c_0_614"/>
          <p:cNvSpPr txBox="1"/>
          <p:nvPr>
            <p:ph idx="1" type="body"/>
          </p:nvPr>
        </p:nvSpPr>
        <p:spPr>
          <a:xfrm>
            <a:off x="387900" y="1986432"/>
            <a:ext cx="8368200" cy="410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4" name="Google Shape;24;g3aa8591508c_0_61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 name="Shape 25"/>
        <p:cNvGrpSpPr/>
        <p:nvPr/>
      </p:nvGrpSpPr>
      <p:grpSpPr>
        <a:xfrm>
          <a:off x="0" y="0"/>
          <a:ext cx="0" cy="0"/>
          <a:chOff x="0" y="0"/>
          <a:chExt cx="0" cy="0"/>
        </a:xfrm>
      </p:grpSpPr>
      <p:cxnSp>
        <p:nvCxnSpPr>
          <p:cNvPr id="26" name="Google Shape;26;g3aa8591508c_0_619"/>
          <p:cNvCxnSpPr/>
          <p:nvPr/>
        </p:nvCxnSpPr>
        <p:spPr>
          <a:xfrm>
            <a:off x="492563" y="1680378"/>
            <a:ext cx="424800" cy="0"/>
          </a:xfrm>
          <a:prstGeom prst="straightConnector1">
            <a:avLst/>
          </a:prstGeom>
          <a:noFill/>
          <a:ln cap="flat" cmpd="sng" w="38100">
            <a:solidFill>
              <a:schemeClr val="accent4"/>
            </a:solidFill>
            <a:prstDash val="solid"/>
            <a:round/>
            <a:headEnd len="sm" w="sm" type="none"/>
            <a:tailEnd len="sm" w="sm" type="none"/>
          </a:ln>
        </p:spPr>
      </p:cxnSp>
      <p:sp>
        <p:nvSpPr>
          <p:cNvPr id="27" name="Google Shape;27;g3aa8591508c_0_619"/>
          <p:cNvSpPr txBox="1"/>
          <p:nvPr>
            <p:ph type="title"/>
          </p:nvPr>
        </p:nvSpPr>
        <p:spPr>
          <a:xfrm>
            <a:off x="387900" y="610700"/>
            <a:ext cx="8368200" cy="914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8" name="Google Shape;28;g3aa8591508c_0_619"/>
          <p:cNvSpPr txBox="1"/>
          <p:nvPr>
            <p:ph idx="1" type="body"/>
          </p:nvPr>
        </p:nvSpPr>
        <p:spPr>
          <a:xfrm>
            <a:off x="387900" y="1986433"/>
            <a:ext cx="3999900" cy="410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g3aa8591508c_0_619"/>
          <p:cNvSpPr txBox="1"/>
          <p:nvPr>
            <p:ph idx="2" type="body"/>
          </p:nvPr>
        </p:nvSpPr>
        <p:spPr>
          <a:xfrm>
            <a:off x="4756200" y="1986433"/>
            <a:ext cx="3999900" cy="410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0" name="Google Shape;30;g3aa8591508c_0_61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1" name="Shape 31"/>
        <p:cNvGrpSpPr/>
        <p:nvPr/>
      </p:nvGrpSpPr>
      <p:grpSpPr>
        <a:xfrm>
          <a:off x="0" y="0"/>
          <a:ext cx="0" cy="0"/>
          <a:chOff x="0" y="0"/>
          <a:chExt cx="0" cy="0"/>
        </a:xfrm>
      </p:grpSpPr>
      <p:sp>
        <p:nvSpPr>
          <p:cNvPr id="32" name="Google Shape;32;g3aa8591508c_0_625"/>
          <p:cNvSpPr txBox="1"/>
          <p:nvPr>
            <p:ph type="title"/>
          </p:nvPr>
        </p:nvSpPr>
        <p:spPr>
          <a:xfrm>
            <a:off x="387900" y="610700"/>
            <a:ext cx="8368200" cy="914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g3aa8591508c_0_62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cxnSp>
        <p:nvCxnSpPr>
          <p:cNvPr id="35" name="Google Shape;35;g3aa8591508c_0_628"/>
          <p:cNvCxnSpPr/>
          <p:nvPr/>
        </p:nvCxnSpPr>
        <p:spPr>
          <a:xfrm>
            <a:off x="489218" y="1883036"/>
            <a:ext cx="331500" cy="0"/>
          </a:xfrm>
          <a:prstGeom prst="straightConnector1">
            <a:avLst/>
          </a:prstGeom>
          <a:noFill/>
          <a:ln cap="flat" cmpd="sng" w="38100">
            <a:solidFill>
              <a:schemeClr val="accent4"/>
            </a:solidFill>
            <a:prstDash val="solid"/>
            <a:round/>
            <a:headEnd len="sm" w="sm" type="none"/>
            <a:tailEnd len="sm" w="sm" type="none"/>
          </a:ln>
        </p:spPr>
      </p:cxnSp>
      <p:sp>
        <p:nvSpPr>
          <p:cNvPr id="36" name="Google Shape;36;g3aa8591508c_0_628"/>
          <p:cNvSpPr txBox="1"/>
          <p:nvPr>
            <p:ph type="title"/>
          </p:nvPr>
        </p:nvSpPr>
        <p:spPr>
          <a:xfrm>
            <a:off x="3879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7" name="Google Shape;37;g3aa8591508c_0_628"/>
          <p:cNvSpPr txBox="1"/>
          <p:nvPr>
            <p:ph idx="1" type="body"/>
          </p:nvPr>
        </p:nvSpPr>
        <p:spPr>
          <a:xfrm>
            <a:off x="387900" y="2125367"/>
            <a:ext cx="2808000" cy="35748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8" name="Google Shape;38;g3aa8591508c_0_62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g3aa8591508c_0_633"/>
          <p:cNvSpPr txBox="1"/>
          <p:nvPr>
            <p:ph type="title"/>
          </p:nvPr>
        </p:nvSpPr>
        <p:spPr>
          <a:xfrm>
            <a:off x="490250" y="701800"/>
            <a:ext cx="56187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41" name="Google Shape;41;g3aa8591508c_0_63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g3aa8591508c_0_636"/>
          <p:cNvSpPr/>
          <p:nvPr/>
        </p:nvSpPr>
        <p:spPr>
          <a:xfrm>
            <a:off x="4572000" y="-100"/>
            <a:ext cx="45720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4" name="Google Shape;44;g3aa8591508c_0_636"/>
          <p:cNvCxnSpPr/>
          <p:nvPr/>
        </p:nvCxnSpPr>
        <p:spPr>
          <a:xfrm>
            <a:off x="5029675" y="5994004"/>
            <a:ext cx="540900" cy="0"/>
          </a:xfrm>
          <a:prstGeom prst="straightConnector1">
            <a:avLst/>
          </a:prstGeom>
          <a:noFill/>
          <a:ln cap="flat" cmpd="sng" w="38100">
            <a:solidFill>
              <a:schemeClr val="accent5"/>
            </a:solidFill>
            <a:prstDash val="solid"/>
            <a:round/>
            <a:headEnd len="sm" w="sm" type="none"/>
            <a:tailEnd len="sm" w="sm" type="none"/>
          </a:ln>
        </p:spPr>
      </p:cxnSp>
      <p:sp>
        <p:nvSpPr>
          <p:cNvPr id="45" name="Google Shape;45;g3aa8591508c_0_636"/>
          <p:cNvSpPr txBox="1"/>
          <p:nvPr>
            <p:ph type="title"/>
          </p:nvPr>
        </p:nvSpPr>
        <p:spPr>
          <a:xfrm>
            <a:off x="265500" y="1612100"/>
            <a:ext cx="4045200" cy="2008500"/>
          </a:xfrm>
          <a:prstGeom prst="rect">
            <a:avLst/>
          </a:prstGeom>
        </p:spPr>
        <p:txBody>
          <a:bodyPr anchorCtr="0" anchor="b"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46" name="Google Shape;46;g3aa8591508c_0_636"/>
          <p:cNvSpPr txBox="1"/>
          <p:nvPr>
            <p:ph idx="1" type="subTitle"/>
          </p:nvPr>
        </p:nvSpPr>
        <p:spPr>
          <a:xfrm>
            <a:off x="265500" y="3692001"/>
            <a:ext cx="4045200" cy="17940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accent5"/>
              </a:buClr>
              <a:buSzPts val="2100"/>
              <a:buNone/>
              <a:defRPr sz="2100">
                <a:solidFill>
                  <a:schemeClr val="accent5"/>
                </a:solidFill>
              </a:defRPr>
            </a:lvl1pPr>
            <a:lvl2pPr lvl="1" algn="ctr">
              <a:lnSpc>
                <a:spcPct val="100000"/>
              </a:lnSpc>
              <a:spcBef>
                <a:spcPts val="0"/>
              </a:spcBef>
              <a:spcAft>
                <a:spcPts val="0"/>
              </a:spcAft>
              <a:buClr>
                <a:schemeClr val="accent5"/>
              </a:buClr>
              <a:buSzPts val="2100"/>
              <a:buNone/>
              <a:defRPr sz="2100">
                <a:solidFill>
                  <a:schemeClr val="accent5"/>
                </a:solidFill>
              </a:defRPr>
            </a:lvl2pPr>
            <a:lvl3pPr lvl="2" algn="ctr">
              <a:lnSpc>
                <a:spcPct val="100000"/>
              </a:lnSpc>
              <a:spcBef>
                <a:spcPts val="0"/>
              </a:spcBef>
              <a:spcAft>
                <a:spcPts val="0"/>
              </a:spcAft>
              <a:buClr>
                <a:schemeClr val="accent5"/>
              </a:buClr>
              <a:buSzPts val="2100"/>
              <a:buNone/>
              <a:defRPr sz="2100">
                <a:solidFill>
                  <a:schemeClr val="accent5"/>
                </a:solidFill>
              </a:defRPr>
            </a:lvl3pPr>
            <a:lvl4pPr lvl="3" algn="ctr">
              <a:lnSpc>
                <a:spcPct val="100000"/>
              </a:lnSpc>
              <a:spcBef>
                <a:spcPts val="0"/>
              </a:spcBef>
              <a:spcAft>
                <a:spcPts val="0"/>
              </a:spcAft>
              <a:buClr>
                <a:schemeClr val="accent5"/>
              </a:buClr>
              <a:buSzPts val="2100"/>
              <a:buNone/>
              <a:defRPr sz="2100">
                <a:solidFill>
                  <a:schemeClr val="accent5"/>
                </a:solidFill>
              </a:defRPr>
            </a:lvl4pPr>
            <a:lvl5pPr lvl="4" algn="ctr">
              <a:lnSpc>
                <a:spcPct val="100000"/>
              </a:lnSpc>
              <a:spcBef>
                <a:spcPts val="0"/>
              </a:spcBef>
              <a:spcAft>
                <a:spcPts val="0"/>
              </a:spcAft>
              <a:buClr>
                <a:schemeClr val="accent5"/>
              </a:buClr>
              <a:buSzPts val="2100"/>
              <a:buNone/>
              <a:defRPr sz="2100">
                <a:solidFill>
                  <a:schemeClr val="accent5"/>
                </a:solidFill>
              </a:defRPr>
            </a:lvl5pPr>
            <a:lvl6pPr lvl="5" algn="ctr">
              <a:lnSpc>
                <a:spcPct val="100000"/>
              </a:lnSpc>
              <a:spcBef>
                <a:spcPts val="0"/>
              </a:spcBef>
              <a:spcAft>
                <a:spcPts val="0"/>
              </a:spcAft>
              <a:buClr>
                <a:schemeClr val="accent5"/>
              </a:buClr>
              <a:buSzPts val="2100"/>
              <a:buNone/>
              <a:defRPr sz="2100">
                <a:solidFill>
                  <a:schemeClr val="accent5"/>
                </a:solidFill>
              </a:defRPr>
            </a:lvl6pPr>
            <a:lvl7pPr lvl="6" algn="ctr">
              <a:lnSpc>
                <a:spcPct val="100000"/>
              </a:lnSpc>
              <a:spcBef>
                <a:spcPts val="0"/>
              </a:spcBef>
              <a:spcAft>
                <a:spcPts val="0"/>
              </a:spcAft>
              <a:buClr>
                <a:schemeClr val="accent5"/>
              </a:buClr>
              <a:buSzPts val="2100"/>
              <a:buNone/>
              <a:defRPr sz="2100">
                <a:solidFill>
                  <a:schemeClr val="accent5"/>
                </a:solidFill>
              </a:defRPr>
            </a:lvl7pPr>
            <a:lvl8pPr lvl="7" algn="ctr">
              <a:lnSpc>
                <a:spcPct val="100000"/>
              </a:lnSpc>
              <a:spcBef>
                <a:spcPts val="0"/>
              </a:spcBef>
              <a:spcAft>
                <a:spcPts val="0"/>
              </a:spcAft>
              <a:buClr>
                <a:schemeClr val="accent5"/>
              </a:buClr>
              <a:buSzPts val="2100"/>
              <a:buNone/>
              <a:defRPr sz="2100">
                <a:solidFill>
                  <a:schemeClr val="accent5"/>
                </a:solidFill>
              </a:defRPr>
            </a:lvl8pPr>
            <a:lvl9pPr lvl="8" algn="ctr">
              <a:lnSpc>
                <a:spcPct val="100000"/>
              </a:lnSpc>
              <a:spcBef>
                <a:spcPts val="0"/>
              </a:spcBef>
              <a:spcAft>
                <a:spcPts val="0"/>
              </a:spcAft>
              <a:buClr>
                <a:schemeClr val="accent5"/>
              </a:buClr>
              <a:buSzPts val="2100"/>
              <a:buNone/>
              <a:defRPr sz="2100">
                <a:solidFill>
                  <a:schemeClr val="accent5"/>
                </a:solidFill>
              </a:defRPr>
            </a:lvl9pPr>
          </a:lstStyle>
          <a:p/>
        </p:txBody>
      </p:sp>
      <p:sp>
        <p:nvSpPr>
          <p:cNvPr id="47" name="Google Shape;47;g3aa8591508c_0_636"/>
          <p:cNvSpPr txBox="1"/>
          <p:nvPr>
            <p:ph idx="2" type="body"/>
          </p:nvPr>
        </p:nvSpPr>
        <p:spPr>
          <a:xfrm>
            <a:off x="4939500" y="965600"/>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8" name="Google Shape;48;g3aa8591508c_0_63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9" name="Shape 49"/>
        <p:cNvGrpSpPr/>
        <p:nvPr/>
      </p:nvGrpSpPr>
      <p:grpSpPr>
        <a:xfrm>
          <a:off x="0" y="0"/>
          <a:ext cx="0" cy="0"/>
          <a:chOff x="0" y="0"/>
          <a:chExt cx="0" cy="0"/>
        </a:xfrm>
      </p:grpSpPr>
      <p:sp>
        <p:nvSpPr>
          <p:cNvPr id="50" name="Google Shape;50;g3aa8591508c_0_643"/>
          <p:cNvSpPr txBox="1"/>
          <p:nvPr>
            <p:ph idx="1" type="body"/>
          </p:nvPr>
        </p:nvSpPr>
        <p:spPr>
          <a:xfrm>
            <a:off x="319500" y="5644967"/>
            <a:ext cx="5998800" cy="7983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Font typeface="Roboto Slab"/>
              <a:buNone/>
              <a:defRPr>
                <a:latin typeface="Roboto Slab"/>
                <a:ea typeface="Roboto Slab"/>
                <a:cs typeface="Roboto Slab"/>
                <a:sym typeface="Roboto Slab"/>
              </a:defRPr>
            </a:lvl1pPr>
          </a:lstStyle>
          <a:p/>
        </p:txBody>
      </p:sp>
      <p:sp>
        <p:nvSpPr>
          <p:cNvPr id="51" name="Google Shape;51;g3aa8591508c_0_64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2" name="Shape 52"/>
        <p:cNvGrpSpPr/>
        <p:nvPr/>
      </p:nvGrpSpPr>
      <p:grpSpPr>
        <a:xfrm>
          <a:off x="0" y="0"/>
          <a:ext cx="0" cy="0"/>
          <a:chOff x="0" y="0"/>
          <a:chExt cx="0" cy="0"/>
        </a:xfrm>
      </p:grpSpPr>
      <p:sp>
        <p:nvSpPr>
          <p:cNvPr id="53" name="Google Shape;53;g3aa8591508c_0_646"/>
          <p:cNvSpPr/>
          <p:nvPr/>
        </p:nvSpPr>
        <p:spPr>
          <a:xfrm>
            <a:off x="150" y="6769100"/>
            <a:ext cx="9143700" cy="888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g3aa8591508c_0_646"/>
          <p:cNvSpPr txBox="1"/>
          <p:nvPr>
            <p:ph hasCustomPrompt="1" type="title"/>
          </p:nvPr>
        </p:nvSpPr>
        <p:spPr>
          <a:xfrm>
            <a:off x="387900" y="1536600"/>
            <a:ext cx="8368200" cy="2051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accent5"/>
              </a:buClr>
              <a:buSzPts val="13000"/>
              <a:buNone/>
              <a:defRPr sz="13000">
                <a:solidFill>
                  <a:schemeClr val="accent5"/>
                </a:solidFill>
              </a:defRPr>
            </a:lvl1pPr>
            <a:lvl2pPr lvl="1" algn="ctr">
              <a:spcBef>
                <a:spcPts val="0"/>
              </a:spcBef>
              <a:spcAft>
                <a:spcPts val="0"/>
              </a:spcAft>
              <a:buClr>
                <a:schemeClr val="accent5"/>
              </a:buClr>
              <a:buSzPts val="13000"/>
              <a:buNone/>
              <a:defRPr sz="13000">
                <a:solidFill>
                  <a:schemeClr val="accent5"/>
                </a:solidFill>
              </a:defRPr>
            </a:lvl2pPr>
            <a:lvl3pPr lvl="2" algn="ctr">
              <a:spcBef>
                <a:spcPts val="0"/>
              </a:spcBef>
              <a:spcAft>
                <a:spcPts val="0"/>
              </a:spcAft>
              <a:buClr>
                <a:schemeClr val="accent5"/>
              </a:buClr>
              <a:buSzPts val="13000"/>
              <a:buNone/>
              <a:defRPr sz="13000">
                <a:solidFill>
                  <a:schemeClr val="accent5"/>
                </a:solidFill>
              </a:defRPr>
            </a:lvl3pPr>
            <a:lvl4pPr lvl="3" algn="ctr">
              <a:spcBef>
                <a:spcPts val="0"/>
              </a:spcBef>
              <a:spcAft>
                <a:spcPts val="0"/>
              </a:spcAft>
              <a:buClr>
                <a:schemeClr val="accent5"/>
              </a:buClr>
              <a:buSzPts val="13000"/>
              <a:buNone/>
              <a:defRPr sz="13000">
                <a:solidFill>
                  <a:schemeClr val="accent5"/>
                </a:solidFill>
              </a:defRPr>
            </a:lvl4pPr>
            <a:lvl5pPr lvl="4" algn="ctr">
              <a:spcBef>
                <a:spcPts val="0"/>
              </a:spcBef>
              <a:spcAft>
                <a:spcPts val="0"/>
              </a:spcAft>
              <a:buClr>
                <a:schemeClr val="accent5"/>
              </a:buClr>
              <a:buSzPts val="13000"/>
              <a:buNone/>
              <a:defRPr sz="13000">
                <a:solidFill>
                  <a:schemeClr val="accent5"/>
                </a:solidFill>
              </a:defRPr>
            </a:lvl5pPr>
            <a:lvl6pPr lvl="5" algn="ctr">
              <a:spcBef>
                <a:spcPts val="0"/>
              </a:spcBef>
              <a:spcAft>
                <a:spcPts val="0"/>
              </a:spcAft>
              <a:buClr>
                <a:schemeClr val="accent5"/>
              </a:buClr>
              <a:buSzPts val="13000"/>
              <a:buNone/>
              <a:defRPr sz="13000">
                <a:solidFill>
                  <a:schemeClr val="accent5"/>
                </a:solidFill>
              </a:defRPr>
            </a:lvl6pPr>
            <a:lvl7pPr lvl="6" algn="ctr">
              <a:spcBef>
                <a:spcPts val="0"/>
              </a:spcBef>
              <a:spcAft>
                <a:spcPts val="0"/>
              </a:spcAft>
              <a:buClr>
                <a:schemeClr val="accent5"/>
              </a:buClr>
              <a:buSzPts val="13000"/>
              <a:buNone/>
              <a:defRPr sz="13000">
                <a:solidFill>
                  <a:schemeClr val="accent5"/>
                </a:solidFill>
              </a:defRPr>
            </a:lvl7pPr>
            <a:lvl8pPr lvl="7" algn="ctr">
              <a:spcBef>
                <a:spcPts val="0"/>
              </a:spcBef>
              <a:spcAft>
                <a:spcPts val="0"/>
              </a:spcAft>
              <a:buClr>
                <a:schemeClr val="accent5"/>
              </a:buClr>
              <a:buSzPts val="13000"/>
              <a:buNone/>
              <a:defRPr sz="13000">
                <a:solidFill>
                  <a:schemeClr val="accent5"/>
                </a:solidFill>
              </a:defRPr>
            </a:lvl8pPr>
            <a:lvl9pPr lvl="8" algn="ctr">
              <a:spcBef>
                <a:spcPts val="0"/>
              </a:spcBef>
              <a:spcAft>
                <a:spcPts val="0"/>
              </a:spcAft>
              <a:buClr>
                <a:schemeClr val="accent5"/>
              </a:buClr>
              <a:buSzPts val="13000"/>
              <a:buNone/>
              <a:defRPr sz="13000">
                <a:solidFill>
                  <a:schemeClr val="accent5"/>
                </a:solidFill>
              </a:defRPr>
            </a:lvl9pPr>
          </a:lstStyle>
          <a:p>
            <a:r>
              <a:t>xx%</a:t>
            </a:r>
          </a:p>
        </p:txBody>
      </p:sp>
      <p:sp>
        <p:nvSpPr>
          <p:cNvPr id="55" name="Google Shape;55;g3aa8591508c_0_646"/>
          <p:cNvSpPr txBox="1"/>
          <p:nvPr>
            <p:ph idx="1" type="body"/>
          </p:nvPr>
        </p:nvSpPr>
        <p:spPr>
          <a:xfrm>
            <a:off x="387900" y="3892600"/>
            <a:ext cx="8368200" cy="14289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56" name="Google Shape;56;g3aa8591508c_0_64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7" name="Shape 57"/>
        <p:cNvGrpSpPr/>
        <p:nvPr/>
      </p:nvGrpSpPr>
      <p:grpSpPr>
        <a:xfrm>
          <a:off x="0" y="0"/>
          <a:ext cx="0" cy="0"/>
          <a:chOff x="0" y="0"/>
          <a:chExt cx="0" cy="0"/>
        </a:xfrm>
      </p:grpSpPr>
      <p:sp>
        <p:nvSpPr>
          <p:cNvPr id="58" name="Google Shape;58;g3aa8591508c_0_65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9" name="Shape 59"/>
        <p:cNvGrpSpPr/>
        <p:nvPr/>
      </p:nvGrpSpPr>
      <p:grpSpPr>
        <a:xfrm>
          <a:off x="0" y="0"/>
          <a:ext cx="0" cy="0"/>
          <a:chOff x="0" y="0"/>
          <a:chExt cx="0" cy="0"/>
        </a:xfrm>
      </p:grpSpPr>
      <p:sp>
        <p:nvSpPr>
          <p:cNvPr id="60" name="Google Shape;60;g3aa8591508c_0_65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61" name="Google Shape;61;g3aa8591508c_0_65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1200"/>
              </a:spcBef>
              <a:spcAft>
                <a:spcPts val="0"/>
              </a:spcAft>
              <a:buClr>
                <a:schemeClr val="dk1"/>
              </a:buClr>
              <a:buSzPts val="1800"/>
              <a:buChar char="○"/>
              <a:defRPr/>
            </a:lvl2pPr>
            <a:lvl3pPr indent="-342900" lvl="2" marL="1371600" algn="l">
              <a:spcBef>
                <a:spcPts val="1200"/>
              </a:spcBef>
              <a:spcAft>
                <a:spcPts val="0"/>
              </a:spcAft>
              <a:buClr>
                <a:schemeClr val="dk1"/>
              </a:buClr>
              <a:buSzPts val="1800"/>
              <a:buChar char="■"/>
              <a:defRPr/>
            </a:lvl3pPr>
            <a:lvl4pPr indent="-342900" lvl="3" marL="1828800" algn="l">
              <a:spcBef>
                <a:spcPts val="1200"/>
              </a:spcBef>
              <a:spcAft>
                <a:spcPts val="0"/>
              </a:spcAft>
              <a:buClr>
                <a:schemeClr val="dk1"/>
              </a:buClr>
              <a:buSzPts val="1800"/>
              <a:buChar char="●"/>
              <a:defRPr/>
            </a:lvl4pPr>
            <a:lvl5pPr indent="-342900" lvl="4" marL="2286000" algn="l">
              <a:spcBef>
                <a:spcPts val="1200"/>
              </a:spcBef>
              <a:spcAft>
                <a:spcPts val="0"/>
              </a:spcAft>
              <a:buClr>
                <a:schemeClr val="dk1"/>
              </a:buClr>
              <a:buSzPts val="1800"/>
              <a:buChar char="○"/>
              <a:defRPr/>
            </a:lvl5pPr>
            <a:lvl6pPr indent="-342900" lvl="5" marL="2743200" algn="l">
              <a:spcBef>
                <a:spcPts val="1200"/>
              </a:spcBef>
              <a:spcAft>
                <a:spcPts val="0"/>
              </a:spcAft>
              <a:buClr>
                <a:schemeClr val="dk1"/>
              </a:buClr>
              <a:buSzPts val="1800"/>
              <a:buChar char="■"/>
              <a:defRPr/>
            </a:lvl6pPr>
            <a:lvl7pPr indent="-342900" lvl="6" marL="3200400" algn="l">
              <a:spcBef>
                <a:spcPts val="1200"/>
              </a:spcBef>
              <a:spcAft>
                <a:spcPts val="0"/>
              </a:spcAft>
              <a:buClr>
                <a:schemeClr val="dk1"/>
              </a:buClr>
              <a:buSzPts val="1800"/>
              <a:buChar char="●"/>
              <a:defRPr/>
            </a:lvl7pPr>
            <a:lvl8pPr indent="-342900" lvl="7" marL="3657600" algn="l">
              <a:spcBef>
                <a:spcPts val="1200"/>
              </a:spcBef>
              <a:spcAft>
                <a:spcPts val="0"/>
              </a:spcAft>
              <a:buClr>
                <a:schemeClr val="dk1"/>
              </a:buClr>
              <a:buSzPts val="1800"/>
              <a:buChar char="○"/>
              <a:defRPr/>
            </a:lvl8pPr>
            <a:lvl9pPr indent="-342900" lvl="8" marL="4114800" algn="l">
              <a:spcBef>
                <a:spcPts val="1200"/>
              </a:spcBef>
              <a:spcAft>
                <a:spcPts val="1200"/>
              </a:spcAft>
              <a:buClr>
                <a:schemeClr val="dk1"/>
              </a:buClr>
              <a:buSzPts val="1800"/>
              <a:buChar char="■"/>
              <a:defRPr/>
            </a:lvl9pPr>
          </a:lstStyle>
          <a:p/>
        </p:txBody>
      </p:sp>
      <p:sp>
        <p:nvSpPr>
          <p:cNvPr id="62" name="Google Shape;62;g3aa8591508c_0_65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g3aa8591508c_0_65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g3aa8591508c_0_65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rina">
    <p:bg>
      <p:bgPr>
        <a:solidFill>
          <a:schemeClr val="lt1"/>
        </a:solidFill>
      </p:bgPr>
    </p:bg>
    <p:spTree>
      <p:nvGrpSpPr>
        <p:cNvPr id="5" name="Shape 5"/>
        <p:cNvGrpSpPr/>
        <p:nvPr/>
      </p:nvGrpSpPr>
      <p:grpSpPr>
        <a:xfrm>
          <a:off x="0" y="0"/>
          <a:ext cx="0" cy="0"/>
          <a:chOff x="0" y="0"/>
          <a:chExt cx="0" cy="0"/>
        </a:xfrm>
      </p:grpSpPr>
      <p:sp>
        <p:nvSpPr>
          <p:cNvPr id="6" name="Google Shape;6;g3aa8591508c_0_599"/>
          <p:cNvSpPr txBox="1"/>
          <p:nvPr>
            <p:ph type="title"/>
          </p:nvPr>
        </p:nvSpPr>
        <p:spPr>
          <a:xfrm>
            <a:off x="387900" y="610700"/>
            <a:ext cx="8368200" cy="914700"/>
          </a:xfrm>
          <a:prstGeom prst="rect">
            <a:avLst/>
          </a:prstGeom>
          <a:noFill/>
          <a:ln>
            <a:noFill/>
          </a:ln>
        </p:spPr>
        <p:txBody>
          <a:bodyPr anchorCtr="0" anchor="b" bIns="91425" lIns="91425" spcFirstLastPara="1" rIns="91425" wrap="square" tIns="91425">
            <a:normAutofit/>
          </a:bodyPr>
          <a:lstStyle>
            <a:lvl1pPr lvl="0">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1pPr>
            <a:lvl2pPr lvl="1">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2pPr>
            <a:lvl3pPr lvl="2">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3pPr>
            <a:lvl4pPr lvl="3">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4pPr>
            <a:lvl5pPr lvl="4">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5pPr>
            <a:lvl6pPr lvl="5">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6pPr>
            <a:lvl7pPr lvl="6">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7pPr>
            <a:lvl8pPr lvl="7">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8pPr>
            <a:lvl9pPr lvl="8">
              <a:spcBef>
                <a:spcPts val="0"/>
              </a:spcBef>
              <a:spcAft>
                <a:spcPts val="0"/>
              </a:spcAft>
              <a:buClr>
                <a:schemeClr val="dk1"/>
              </a:buClr>
              <a:buSzPts val="3000"/>
              <a:buFont typeface="Roboto Slab"/>
              <a:buNone/>
              <a:defRPr sz="3000">
                <a:solidFill>
                  <a:schemeClr val="dk1"/>
                </a:solidFill>
                <a:latin typeface="Roboto Slab"/>
                <a:ea typeface="Roboto Slab"/>
                <a:cs typeface="Roboto Slab"/>
                <a:sym typeface="Roboto Slab"/>
              </a:defRPr>
            </a:lvl9pPr>
          </a:lstStyle>
          <a:p/>
        </p:txBody>
      </p:sp>
      <p:sp>
        <p:nvSpPr>
          <p:cNvPr id="7" name="Google Shape;7;g3aa8591508c_0_599"/>
          <p:cNvSpPr txBox="1"/>
          <p:nvPr>
            <p:ph idx="1" type="body"/>
          </p:nvPr>
        </p:nvSpPr>
        <p:spPr>
          <a:xfrm>
            <a:off x="387900" y="1986432"/>
            <a:ext cx="8368200" cy="410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1"/>
              </a:buClr>
              <a:buSzPts val="1800"/>
              <a:buFont typeface="Roboto"/>
              <a:buChar char="●"/>
              <a:defRPr sz="1800">
                <a:solidFill>
                  <a:schemeClr val="dk1"/>
                </a:solidFill>
                <a:latin typeface="Roboto"/>
                <a:ea typeface="Roboto"/>
                <a:cs typeface="Roboto"/>
                <a:sym typeface="Roboto"/>
              </a:defRPr>
            </a:lvl1pPr>
            <a:lvl2pPr indent="-317500" lvl="1" marL="914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2pPr>
            <a:lvl3pPr indent="-317500" lvl="2" marL="1371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3pPr>
            <a:lvl4pPr indent="-317500" lvl="3" marL="1828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4pPr>
            <a:lvl5pPr indent="-317500" lvl="4" marL="22860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5pPr>
            <a:lvl6pPr indent="-317500" lvl="5" marL="27432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6pPr>
            <a:lvl7pPr indent="-317500" lvl="6" marL="32004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7pPr>
            <a:lvl8pPr indent="-317500" lvl="7" marL="36576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8pPr>
            <a:lvl9pPr indent="-317500" lvl="8" marL="4114800">
              <a:lnSpc>
                <a:spcPct val="115000"/>
              </a:lnSpc>
              <a:spcBef>
                <a:spcPts val="0"/>
              </a:spcBef>
              <a:spcAft>
                <a:spcPts val="0"/>
              </a:spcAft>
              <a:buClr>
                <a:schemeClr val="dk1"/>
              </a:buClr>
              <a:buSzPts val="1400"/>
              <a:buFont typeface="Roboto"/>
              <a:buChar char="■"/>
              <a:defRPr>
                <a:solidFill>
                  <a:schemeClr val="dk1"/>
                </a:solidFill>
                <a:latin typeface="Roboto"/>
                <a:ea typeface="Roboto"/>
                <a:cs typeface="Roboto"/>
                <a:sym typeface="Roboto"/>
              </a:defRPr>
            </a:lvl9pPr>
          </a:lstStyle>
          <a:p/>
        </p:txBody>
      </p:sp>
      <p:sp>
        <p:nvSpPr>
          <p:cNvPr id="8" name="Google Shape;8;g3aa8591508c_0_59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1"/>
                </a:solidFill>
                <a:latin typeface="Roboto"/>
                <a:ea typeface="Roboto"/>
                <a:cs typeface="Roboto"/>
                <a:sym typeface="Roboto"/>
              </a:defRPr>
            </a:lvl1pPr>
            <a:lvl2pPr lvl="1" algn="r">
              <a:buNone/>
              <a:defRPr sz="1000">
                <a:solidFill>
                  <a:schemeClr val="dk1"/>
                </a:solidFill>
                <a:latin typeface="Roboto"/>
                <a:ea typeface="Roboto"/>
                <a:cs typeface="Roboto"/>
                <a:sym typeface="Roboto"/>
              </a:defRPr>
            </a:lvl2pPr>
            <a:lvl3pPr lvl="2" algn="r">
              <a:buNone/>
              <a:defRPr sz="1000">
                <a:solidFill>
                  <a:schemeClr val="dk1"/>
                </a:solidFill>
                <a:latin typeface="Roboto"/>
                <a:ea typeface="Roboto"/>
                <a:cs typeface="Roboto"/>
                <a:sym typeface="Roboto"/>
              </a:defRPr>
            </a:lvl3pPr>
            <a:lvl4pPr lvl="3" algn="r">
              <a:buNone/>
              <a:defRPr sz="1000">
                <a:solidFill>
                  <a:schemeClr val="dk1"/>
                </a:solidFill>
                <a:latin typeface="Roboto"/>
                <a:ea typeface="Roboto"/>
                <a:cs typeface="Roboto"/>
                <a:sym typeface="Roboto"/>
              </a:defRPr>
            </a:lvl4pPr>
            <a:lvl5pPr lvl="4" algn="r">
              <a:buNone/>
              <a:defRPr sz="1000">
                <a:solidFill>
                  <a:schemeClr val="dk1"/>
                </a:solidFill>
                <a:latin typeface="Roboto"/>
                <a:ea typeface="Roboto"/>
                <a:cs typeface="Roboto"/>
                <a:sym typeface="Roboto"/>
              </a:defRPr>
            </a:lvl5pPr>
            <a:lvl6pPr lvl="5" algn="r">
              <a:buNone/>
              <a:defRPr sz="1000">
                <a:solidFill>
                  <a:schemeClr val="dk1"/>
                </a:solidFill>
                <a:latin typeface="Roboto"/>
                <a:ea typeface="Roboto"/>
                <a:cs typeface="Roboto"/>
                <a:sym typeface="Roboto"/>
              </a:defRPr>
            </a:lvl6pPr>
            <a:lvl7pPr lvl="6" algn="r">
              <a:buNone/>
              <a:defRPr sz="1000">
                <a:solidFill>
                  <a:schemeClr val="dk1"/>
                </a:solidFill>
                <a:latin typeface="Roboto"/>
                <a:ea typeface="Roboto"/>
                <a:cs typeface="Roboto"/>
                <a:sym typeface="Roboto"/>
              </a:defRPr>
            </a:lvl7pPr>
            <a:lvl8pPr lvl="7" algn="r">
              <a:buNone/>
              <a:defRPr sz="1000">
                <a:solidFill>
                  <a:schemeClr val="dk1"/>
                </a:solidFill>
                <a:latin typeface="Roboto"/>
                <a:ea typeface="Roboto"/>
                <a:cs typeface="Roboto"/>
                <a:sym typeface="Roboto"/>
              </a:defRPr>
            </a:lvl8pPr>
            <a:lvl9pPr lvl="8" algn="r">
              <a:buNone/>
              <a:defRPr sz="1000">
                <a:solidFill>
                  <a:schemeClr val="dk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g3aa8591508c_0_0"/>
          <p:cNvSpPr txBox="1"/>
          <p:nvPr>
            <p:ph type="ctrTitle"/>
          </p:nvPr>
        </p:nvSpPr>
        <p:spPr>
          <a:xfrm>
            <a:off x="1680300" y="1117848"/>
            <a:ext cx="5783400" cy="2410500"/>
          </a:xfrm>
          <a:prstGeom prst="rect">
            <a:avLst/>
          </a:prstGeom>
        </p:spPr>
        <p:txBody>
          <a:bodyPr anchorCtr="0" anchor="b" bIns="91425" lIns="91425" spcFirstLastPara="1" rIns="91425" wrap="square" tIns="91425">
            <a:normAutofit fontScale="90000"/>
          </a:bodyPr>
          <a:lstStyle/>
          <a:p>
            <a:pPr indent="0" lvl="0" marL="0" rtl="0" algn="l">
              <a:lnSpc>
                <a:spcPct val="115000"/>
              </a:lnSpc>
              <a:spcBef>
                <a:spcPts val="2400"/>
              </a:spcBef>
              <a:spcAft>
                <a:spcPts val="0"/>
              </a:spcAft>
              <a:buClr>
                <a:schemeClr val="dk1"/>
              </a:buClr>
              <a:buSzPct val="34615"/>
              <a:buFont typeface="Arial"/>
              <a:buNone/>
            </a:pPr>
            <a:r>
              <a:rPr lang="en-US" sz="3177">
                <a:latin typeface="Roboto Slab ExtraBold"/>
                <a:ea typeface="Roboto Slab ExtraBold"/>
                <a:cs typeface="Roboto Slab ExtraBold"/>
                <a:sym typeface="Roboto Slab ExtraBold"/>
              </a:rPr>
              <a:t>Predicting Post-Myocardial Infarction Complications Using Machine Learning</a:t>
            </a:r>
            <a:endParaRPr sz="3177">
              <a:latin typeface="Roboto Slab ExtraBold"/>
              <a:ea typeface="Roboto Slab ExtraBold"/>
              <a:cs typeface="Roboto Slab ExtraBold"/>
              <a:sym typeface="Roboto Slab ExtraBold"/>
            </a:endParaRPr>
          </a:p>
          <a:p>
            <a:pPr indent="0" lvl="0" marL="0" rtl="0" algn="l">
              <a:lnSpc>
                <a:spcPct val="115000"/>
              </a:lnSpc>
              <a:spcBef>
                <a:spcPts val="1400"/>
              </a:spcBef>
              <a:spcAft>
                <a:spcPts val="400"/>
              </a:spcAft>
              <a:buNone/>
            </a:pPr>
            <a:r>
              <a:rPr i="1" lang="en-US" sz="1300">
                <a:latin typeface="Roboto Slab ExtraBold"/>
                <a:ea typeface="Roboto Slab ExtraBold"/>
                <a:cs typeface="Roboto Slab ExtraBold"/>
                <a:sym typeface="Roboto Slab ExtraBold"/>
              </a:rPr>
              <a:t>A Machine Learning Approach to Clinical Risk and Hospital Resource Optimization</a:t>
            </a:r>
            <a:endParaRPr>
              <a:latin typeface="Roboto Slab ExtraBold"/>
              <a:ea typeface="Roboto Slab ExtraBold"/>
              <a:cs typeface="Roboto Slab ExtraBold"/>
              <a:sym typeface="Roboto Slab ExtraBold"/>
            </a:endParaRPr>
          </a:p>
        </p:txBody>
      </p:sp>
      <p:sp>
        <p:nvSpPr>
          <p:cNvPr id="70" name="Google Shape;70;g3aa8591508c_0_0"/>
          <p:cNvSpPr txBox="1"/>
          <p:nvPr>
            <p:ph idx="1" type="subTitle"/>
          </p:nvPr>
        </p:nvSpPr>
        <p:spPr>
          <a:xfrm>
            <a:off x="1680302" y="4065933"/>
            <a:ext cx="5783400" cy="12120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None/>
            </a:pPr>
            <a:r>
              <a:rPr b="1" lang="en-US" sz="1500">
                <a:solidFill>
                  <a:schemeClr val="dk1"/>
                </a:solidFill>
              </a:rPr>
              <a:t>Team 3A: Yuanfei Chen, Han Pham, Neha Kolagatla, Qinyi Ding, Yuqi Zhou, Spencer Cao</a:t>
            </a:r>
            <a:endParaRPr sz="2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rPr>
              <a:t>Introduction</a:t>
            </a:r>
            <a:endParaRPr/>
          </a:p>
        </p:txBody>
      </p:sp>
      <p:sp>
        <p:nvSpPr>
          <p:cNvPr id="76" name="Google Shape;76;p3"/>
          <p:cNvSpPr txBox="1"/>
          <p:nvPr>
            <p:ph idx="1" type="body"/>
          </p:nvPr>
        </p:nvSpPr>
        <p:spPr>
          <a:xfrm>
            <a:off x="457200" y="1313475"/>
            <a:ext cx="8033100" cy="4526100"/>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sz="3200">
              <a:solidFill>
                <a:schemeClr val="dk1"/>
              </a:solidFill>
              <a:latin typeface="Roboto Slab"/>
              <a:ea typeface="Roboto Slab"/>
              <a:cs typeface="Roboto Slab"/>
              <a:sym typeface="Roboto Slab"/>
            </a:endParaRPr>
          </a:p>
          <a:p>
            <a:pPr indent="0" lvl="0" marL="1828800" rtl="0" algn="l">
              <a:spcBef>
                <a:spcPts val="640"/>
              </a:spcBef>
              <a:spcAft>
                <a:spcPts val="0"/>
              </a:spcAft>
              <a:buNone/>
            </a:pPr>
            <a:r>
              <a:rPr lang="en-US">
                <a:latin typeface="Roboto Slab"/>
                <a:ea typeface="Roboto Slab"/>
                <a:cs typeface="Roboto Slab"/>
                <a:sym typeface="Roboto Slab"/>
              </a:rPr>
              <a:t>Achieve early risk prediction, allowing hospitals to </a:t>
            </a:r>
            <a:r>
              <a:rPr lang="en-US">
                <a:latin typeface="Roboto Slab"/>
                <a:ea typeface="Roboto Slab"/>
                <a:cs typeface="Roboto Slab"/>
                <a:sym typeface="Roboto Slab"/>
              </a:rPr>
              <a:t>efficiently</a:t>
            </a:r>
            <a:r>
              <a:rPr lang="en-US">
                <a:latin typeface="Roboto Slab"/>
                <a:ea typeface="Roboto Slab"/>
                <a:cs typeface="Roboto Slab"/>
                <a:sym typeface="Roboto Slab"/>
              </a:rPr>
              <a:t> allocate resources</a:t>
            </a:r>
            <a:endParaRPr sz="400">
              <a:latin typeface="Roboto Slab"/>
              <a:ea typeface="Roboto Slab"/>
              <a:cs typeface="Roboto Slab"/>
              <a:sym typeface="Roboto Slab"/>
            </a:endParaRPr>
          </a:p>
          <a:p>
            <a:pPr indent="0" lvl="0" marL="0" rtl="0" algn="l">
              <a:spcBef>
                <a:spcPts val="640"/>
              </a:spcBef>
              <a:spcAft>
                <a:spcPts val="1200"/>
              </a:spcAft>
              <a:buNone/>
            </a:pPr>
            <a:r>
              <a:rPr lang="en-US">
                <a:latin typeface="Roboto Slab"/>
                <a:ea typeface="Roboto Slab"/>
                <a:cs typeface="Roboto Slab"/>
                <a:sym typeface="Roboto Slab"/>
              </a:rPr>
              <a:t> 			     </a:t>
            </a:r>
            <a:br>
              <a:rPr lang="en-US">
                <a:latin typeface="Roboto Slab"/>
                <a:ea typeface="Roboto Slab"/>
                <a:cs typeface="Roboto Slab"/>
                <a:sym typeface="Roboto Slab"/>
              </a:rPr>
            </a:br>
            <a:r>
              <a:rPr lang="en-US">
                <a:latin typeface="Roboto Slab"/>
                <a:ea typeface="Roboto Slab"/>
                <a:cs typeface="Roboto Slab"/>
                <a:sym typeface="Roboto Slab"/>
              </a:rPr>
              <a:t>				</a:t>
            </a:r>
            <a:r>
              <a:rPr lang="en-US">
                <a:solidFill>
                  <a:schemeClr val="dk1"/>
                </a:solidFill>
                <a:latin typeface="Roboto Slab"/>
                <a:ea typeface="Roboto Slab"/>
                <a:cs typeface="Roboto Slab"/>
                <a:sym typeface="Roboto Slab"/>
              </a:rPr>
              <a:t>UCI ML</a:t>
            </a:r>
            <a:r>
              <a:rPr lang="en-US">
                <a:latin typeface="Roboto Slab"/>
                <a:ea typeface="Roboto Slab"/>
                <a:cs typeface="Roboto Slab"/>
                <a:sym typeface="Roboto Slab"/>
              </a:rPr>
              <a:t> Repository / </a:t>
            </a:r>
            <a:r>
              <a:rPr lang="en-US">
                <a:solidFill>
                  <a:schemeClr val="dk1"/>
                </a:solidFill>
                <a:latin typeface="Roboto Slab"/>
                <a:ea typeface="Roboto Slab"/>
                <a:cs typeface="Roboto Slab"/>
                <a:sym typeface="Roboto Slab"/>
              </a:rPr>
              <a:t>University of Leicester</a:t>
            </a:r>
            <a:endParaRPr sz="400">
              <a:latin typeface="Roboto Slab"/>
              <a:ea typeface="Roboto Slab"/>
              <a:cs typeface="Roboto Slab"/>
              <a:sym typeface="Roboto Slab"/>
            </a:endParaRPr>
          </a:p>
        </p:txBody>
      </p:sp>
      <p:pic>
        <p:nvPicPr>
          <p:cNvPr id="77" name="Google Shape;77;p3"/>
          <p:cNvPicPr preferRelativeResize="0"/>
          <p:nvPr/>
        </p:nvPicPr>
        <p:blipFill>
          <a:blip r:embed="rId3">
            <a:alphaModFix/>
          </a:blip>
          <a:stretch>
            <a:fillRect/>
          </a:stretch>
        </p:blipFill>
        <p:spPr>
          <a:xfrm>
            <a:off x="4913363" y="3858988"/>
            <a:ext cx="2771775" cy="828675"/>
          </a:xfrm>
          <a:prstGeom prst="rect">
            <a:avLst/>
          </a:prstGeom>
          <a:noFill/>
          <a:ln>
            <a:noFill/>
          </a:ln>
        </p:spPr>
      </p:pic>
      <p:pic>
        <p:nvPicPr>
          <p:cNvPr id="78" name="Google Shape;78;p3"/>
          <p:cNvPicPr preferRelativeResize="0"/>
          <p:nvPr/>
        </p:nvPicPr>
        <p:blipFill>
          <a:blip r:embed="rId4">
            <a:alphaModFix/>
          </a:blip>
          <a:stretch>
            <a:fillRect/>
          </a:stretch>
        </p:blipFill>
        <p:spPr>
          <a:xfrm>
            <a:off x="1398025" y="3859000"/>
            <a:ext cx="2267176" cy="2267174"/>
          </a:xfrm>
          <a:prstGeom prst="rect">
            <a:avLst/>
          </a:prstGeom>
          <a:noFill/>
          <a:ln>
            <a:noFill/>
          </a:ln>
        </p:spPr>
      </p:pic>
      <p:pic>
        <p:nvPicPr>
          <p:cNvPr id="79" name="Google Shape;79;p3"/>
          <p:cNvPicPr preferRelativeResize="0"/>
          <p:nvPr/>
        </p:nvPicPr>
        <p:blipFill>
          <a:blip r:embed="rId5">
            <a:alphaModFix/>
          </a:blip>
          <a:stretch>
            <a:fillRect/>
          </a:stretch>
        </p:blipFill>
        <p:spPr>
          <a:xfrm>
            <a:off x="4913375" y="5176725"/>
            <a:ext cx="2771773" cy="808950"/>
          </a:xfrm>
          <a:prstGeom prst="rect">
            <a:avLst/>
          </a:prstGeom>
          <a:noFill/>
          <a:ln>
            <a:noFill/>
          </a:ln>
        </p:spPr>
      </p:pic>
      <p:grpSp>
        <p:nvGrpSpPr>
          <p:cNvPr id="80" name="Google Shape;80;p3"/>
          <p:cNvGrpSpPr/>
          <p:nvPr/>
        </p:nvGrpSpPr>
        <p:grpSpPr>
          <a:xfrm>
            <a:off x="624864" y="1926776"/>
            <a:ext cx="1374526" cy="621711"/>
            <a:chOff x="0" y="0"/>
            <a:chExt cx="812800" cy="812800"/>
          </a:xfrm>
        </p:grpSpPr>
        <p:sp>
          <p:nvSpPr>
            <p:cNvPr id="81" name="Google Shape;81;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54375" lIns="54375" spcFirstLastPara="1" rIns="54375" wrap="square" tIns="54375">
              <a:noAutofit/>
            </a:bodyPr>
            <a:lstStyle/>
            <a:p>
              <a:pPr indent="0" lvl="0" marL="0" marR="0" rtl="0" algn="l">
                <a:lnSpc>
                  <a:spcPct val="100000"/>
                </a:lnSpc>
                <a:spcBef>
                  <a:spcPts val="0"/>
                </a:spcBef>
                <a:spcAft>
                  <a:spcPts val="0"/>
                </a:spcAft>
                <a:buClr>
                  <a:srgbClr val="000000"/>
                </a:buClr>
                <a:buSzPts val="833"/>
                <a:buFont typeface="Arial"/>
                <a:buNone/>
              </a:pPr>
              <a:r>
                <a:t/>
              </a:r>
              <a:endParaRPr b="0" i="0" sz="832" u="none" cap="none" strike="noStrike">
                <a:solidFill>
                  <a:srgbClr val="000000"/>
                </a:solidFill>
                <a:latin typeface="Arial"/>
                <a:ea typeface="Arial"/>
                <a:cs typeface="Arial"/>
                <a:sym typeface="Arial"/>
              </a:endParaRPr>
            </a:p>
          </p:txBody>
        </p:sp>
        <p:sp>
          <p:nvSpPr>
            <p:cNvPr id="82" name="Google Shape;82;p3"/>
            <p:cNvSpPr txBox="1"/>
            <p:nvPr/>
          </p:nvSpPr>
          <p:spPr>
            <a:xfrm>
              <a:off x="76200" y="28575"/>
              <a:ext cx="660300" cy="708000"/>
            </a:xfrm>
            <a:prstGeom prst="rect">
              <a:avLst/>
            </a:prstGeom>
            <a:noFill/>
            <a:ln>
              <a:noFill/>
            </a:ln>
          </p:spPr>
          <p:txBody>
            <a:bodyPr anchorCtr="0" anchor="ctr" bIns="30200" lIns="30200" spcFirstLastPara="1" rIns="30200" wrap="square" tIns="30200">
              <a:noAutofit/>
            </a:bodyPr>
            <a:lstStyle/>
            <a:p>
              <a:pPr indent="0" lvl="0" marL="0" marR="0" rtl="0" algn="ctr">
                <a:lnSpc>
                  <a:spcPct val="194000"/>
                </a:lnSpc>
                <a:spcBef>
                  <a:spcPts val="0"/>
                </a:spcBef>
                <a:spcAft>
                  <a:spcPts val="0"/>
                </a:spcAft>
                <a:buClr>
                  <a:srgbClr val="000000"/>
                </a:buClr>
                <a:buSzPts val="1070"/>
                <a:buFont typeface="Arial"/>
                <a:buNone/>
              </a:pPr>
              <a:r>
                <a:t/>
              </a:r>
              <a:endParaRPr b="0" i="0" sz="1070" u="none" cap="none" strike="noStrike">
                <a:solidFill>
                  <a:srgbClr val="000000"/>
                </a:solidFill>
                <a:latin typeface="Calibri"/>
                <a:ea typeface="Calibri"/>
                <a:cs typeface="Calibri"/>
                <a:sym typeface="Calibri"/>
              </a:endParaRPr>
            </a:p>
          </p:txBody>
        </p:sp>
      </p:grpSp>
      <p:sp>
        <p:nvSpPr>
          <p:cNvPr id="83" name="Google Shape;83;p3"/>
          <p:cNvSpPr txBox="1"/>
          <p:nvPr/>
        </p:nvSpPr>
        <p:spPr>
          <a:xfrm>
            <a:off x="624838" y="2006677"/>
            <a:ext cx="1374600" cy="541800"/>
          </a:xfrm>
          <a:prstGeom prst="rect">
            <a:avLst/>
          </a:prstGeom>
          <a:noFill/>
          <a:ln>
            <a:noFill/>
          </a:ln>
        </p:spPr>
        <p:txBody>
          <a:bodyPr anchorCtr="0" anchor="ctr" bIns="57175" lIns="57175" spcFirstLastPara="1" rIns="57175" wrap="square" tIns="57175">
            <a:noAutofit/>
          </a:bodyPr>
          <a:lstStyle/>
          <a:p>
            <a:pPr indent="0" lvl="0" marL="0" marR="0" rtl="0" algn="ctr">
              <a:lnSpc>
                <a:spcPct val="150000"/>
              </a:lnSpc>
              <a:spcBef>
                <a:spcPts val="0"/>
              </a:spcBef>
              <a:spcAft>
                <a:spcPts val="0"/>
              </a:spcAft>
              <a:buClr>
                <a:srgbClr val="000000"/>
              </a:buClr>
              <a:buSzPts val="2500"/>
              <a:buFont typeface="Arial"/>
              <a:buNone/>
            </a:pPr>
            <a:r>
              <a:rPr lang="en-US" sz="1800">
                <a:solidFill>
                  <a:srgbClr val="FFFFFF"/>
                </a:solidFill>
                <a:latin typeface="Roboto Slab"/>
                <a:ea typeface="Roboto Slab"/>
                <a:cs typeface="Roboto Slab"/>
                <a:sym typeface="Roboto Slab"/>
              </a:rPr>
              <a:t>Goal</a:t>
            </a:r>
            <a:endParaRPr i="0" sz="1800" u="none" cap="none" strike="noStrike">
              <a:solidFill>
                <a:srgbClr val="000000"/>
              </a:solidFill>
              <a:latin typeface="Roboto Slab"/>
              <a:ea typeface="Roboto Slab"/>
              <a:cs typeface="Roboto Slab"/>
              <a:sym typeface="Roboto Slab"/>
            </a:endParaRPr>
          </a:p>
        </p:txBody>
      </p:sp>
      <p:grpSp>
        <p:nvGrpSpPr>
          <p:cNvPr id="84" name="Google Shape;84;p3"/>
          <p:cNvGrpSpPr/>
          <p:nvPr/>
        </p:nvGrpSpPr>
        <p:grpSpPr>
          <a:xfrm>
            <a:off x="624864" y="2835726"/>
            <a:ext cx="1374526" cy="621711"/>
            <a:chOff x="0" y="0"/>
            <a:chExt cx="812800" cy="812800"/>
          </a:xfrm>
        </p:grpSpPr>
        <p:sp>
          <p:nvSpPr>
            <p:cNvPr id="85" name="Google Shape;85;p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solidFill>
            <a:ln>
              <a:noFill/>
            </a:ln>
          </p:spPr>
          <p:txBody>
            <a:bodyPr anchorCtr="0" anchor="ctr" bIns="54375" lIns="54375" spcFirstLastPara="1" rIns="54375" wrap="square" tIns="54375">
              <a:noAutofit/>
            </a:bodyPr>
            <a:lstStyle/>
            <a:p>
              <a:pPr indent="0" lvl="0" marL="0" marR="0" rtl="0" algn="l">
                <a:lnSpc>
                  <a:spcPct val="100000"/>
                </a:lnSpc>
                <a:spcBef>
                  <a:spcPts val="0"/>
                </a:spcBef>
                <a:spcAft>
                  <a:spcPts val="0"/>
                </a:spcAft>
                <a:buClr>
                  <a:srgbClr val="000000"/>
                </a:buClr>
                <a:buSzPts val="833"/>
                <a:buFont typeface="Arial"/>
                <a:buNone/>
              </a:pPr>
              <a:r>
                <a:t/>
              </a:r>
              <a:endParaRPr b="0" i="0" sz="832" u="none" cap="none" strike="noStrike">
                <a:solidFill>
                  <a:srgbClr val="000000"/>
                </a:solidFill>
                <a:latin typeface="Arial"/>
                <a:ea typeface="Arial"/>
                <a:cs typeface="Arial"/>
                <a:sym typeface="Arial"/>
              </a:endParaRPr>
            </a:p>
          </p:txBody>
        </p:sp>
        <p:sp>
          <p:nvSpPr>
            <p:cNvPr id="86" name="Google Shape;86;p3"/>
            <p:cNvSpPr txBox="1"/>
            <p:nvPr/>
          </p:nvSpPr>
          <p:spPr>
            <a:xfrm>
              <a:off x="76200" y="28575"/>
              <a:ext cx="660300" cy="708000"/>
            </a:xfrm>
            <a:prstGeom prst="rect">
              <a:avLst/>
            </a:prstGeom>
            <a:noFill/>
            <a:ln>
              <a:noFill/>
            </a:ln>
          </p:spPr>
          <p:txBody>
            <a:bodyPr anchorCtr="0" anchor="ctr" bIns="30200" lIns="30200" spcFirstLastPara="1" rIns="30200" wrap="square" tIns="30200">
              <a:noAutofit/>
            </a:bodyPr>
            <a:lstStyle/>
            <a:p>
              <a:pPr indent="0" lvl="0" marL="0" marR="0" rtl="0" algn="ctr">
                <a:lnSpc>
                  <a:spcPct val="194000"/>
                </a:lnSpc>
                <a:spcBef>
                  <a:spcPts val="0"/>
                </a:spcBef>
                <a:spcAft>
                  <a:spcPts val="0"/>
                </a:spcAft>
                <a:buClr>
                  <a:srgbClr val="000000"/>
                </a:buClr>
                <a:buSzPts val="1070"/>
                <a:buFont typeface="Arial"/>
                <a:buNone/>
              </a:pPr>
              <a:r>
                <a:t/>
              </a:r>
              <a:endParaRPr b="0" i="0" sz="1070" u="none" cap="none" strike="noStrike">
                <a:solidFill>
                  <a:srgbClr val="000000"/>
                </a:solidFill>
                <a:latin typeface="Calibri"/>
                <a:ea typeface="Calibri"/>
                <a:cs typeface="Calibri"/>
                <a:sym typeface="Calibri"/>
              </a:endParaRPr>
            </a:p>
          </p:txBody>
        </p:sp>
      </p:grpSp>
      <p:sp>
        <p:nvSpPr>
          <p:cNvPr id="87" name="Google Shape;87;p3"/>
          <p:cNvSpPr txBox="1"/>
          <p:nvPr/>
        </p:nvSpPr>
        <p:spPr>
          <a:xfrm>
            <a:off x="624850" y="3006336"/>
            <a:ext cx="1374600" cy="394800"/>
          </a:xfrm>
          <a:prstGeom prst="rect">
            <a:avLst/>
          </a:prstGeom>
          <a:noFill/>
          <a:ln>
            <a:noFill/>
          </a:ln>
        </p:spPr>
        <p:txBody>
          <a:bodyPr anchorCtr="0" anchor="ctr" bIns="57175" lIns="57175" spcFirstLastPara="1" rIns="57175" wrap="square" tIns="57175">
            <a:noAutofit/>
          </a:bodyPr>
          <a:lstStyle/>
          <a:p>
            <a:pPr indent="0" lvl="0" marL="0" marR="0" rtl="0" algn="ctr">
              <a:lnSpc>
                <a:spcPct val="150000"/>
              </a:lnSpc>
              <a:spcBef>
                <a:spcPts val="0"/>
              </a:spcBef>
              <a:spcAft>
                <a:spcPts val="0"/>
              </a:spcAft>
              <a:buClr>
                <a:srgbClr val="000000"/>
              </a:buClr>
              <a:buSzPts val="2500"/>
              <a:buFont typeface="Arial"/>
              <a:buNone/>
            </a:pPr>
            <a:r>
              <a:rPr lang="en-US" sz="1700">
                <a:solidFill>
                  <a:srgbClr val="FFFFFF"/>
                </a:solidFill>
                <a:latin typeface="Roboto Slab"/>
                <a:ea typeface="Roboto Slab"/>
                <a:cs typeface="Roboto Slab"/>
                <a:sym typeface="Roboto Slab"/>
              </a:rPr>
              <a:t>Data Source</a:t>
            </a:r>
            <a:endParaRPr i="0" sz="1700" u="none" cap="none" strike="noStrike">
              <a:solidFill>
                <a:srgbClr val="000000"/>
              </a:solidFill>
              <a:latin typeface="Roboto Slab"/>
              <a:ea typeface="Roboto Slab"/>
              <a:cs typeface="Roboto Slab"/>
              <a:sym typeface="Roboto Slab"/>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3aacd49ec51_0_5"/>
          <p:cNvSpPr txBox="1"/>
          <p:nvPr>
            <p:ph type="title"/>
          </p:nvPr>
        </p:nvSpPr>
        <p:spPr>
          <a:xfrm>
            <a:off x="387900" y="610700"/>
            <a:ext cx="8368200" cy="914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US"/>
              <a:t>What is MI ?</a:t>
            </a:r>
            <a:endParaRPr/>
          </a:p>
        </p:txBody>
      </p:sp>
      <p:sp>
        <p:nvSpPr>
          <p:cNvPr id="93" name="Google Shape;93;g3aacd49ec51_0_5"/>
          <p:cNvSpPr txBox="1"/>
          <p:nvPr>
            <p:ph idx="1" type="body"/>
          </p:nvPr>
        </p:nvSpPr>
        <p:spPr>
          <a:xfrm>
            <a:off x="136400" y="1986425"/>
            <a:ext cx="5620500" cy="4530600"/>
          </a:xfrm>
          <a:prstGeom prst="rect">
            <a:avLst/>
          </a:prstGeom>
        </p:spPr>
        <p:txBody>
          <a:bodyPr anchorCtr="0" anchor="ctr" bIns="91425" lIns="91425" spcFirstLastPara="1" rIns="91425" wrap="square" tIns="91425">
            <a:normAutofit/>
          </a:bodyPr>
          <a:lstStyle/>
          <a:p>
            <a:pPr indent="-355600" lvl="0" marL="457200" rtl="0" algn="l">
              <a:spcBef>
                <a:spcPts val="0"/>
              </a:spcBef>
              <a:spcAft>
                <a:spcPts val="0"/>
              </a:spcAft>
              <a:buSzPts val="2000"/>
              <a:buFont typeface="Roboto Slab"/>
              <a:buChar char="●"/>
            </a:pPr>
            <a:r>
              <a:rPr lang="en-US" sz="2000">
                <a:latin typeface="Roboto Slab"/>
                <a:ea typeface="Roboto Slab"/>
                <a:cs typeface="Roboto Slab"/>
                <a:sym typeface="Roboto Slab"/>
              </a:rPr>
              <a:t>Myocardial Infarction (heart attack) is a leading global cause of death.</a:t>
            </a:r>
            <a:endParaRPr sz="2000">
              <a:latin typeface="Roboto Slab"/>
              <a:ea typeface="Roboto Slab"/>
              <a:cs typeface="Roboto Slab"/>
              <a:sym typeface="Roboto Slab"/>
            </a:endParaRPr>
          </a:p>
          <a:p>
            <a:pPr indent="-355600" lvl="1" marL="1371600" rtl="0" algn="l">
              <a:spcBef>
                <a:spcPts val="0"/>
              </a:spcBef>
              <a:spcAft>
                <a:spcPts val="0"/>
              </a:spcAft>
              <a:buSzPts val="2000"/>
              <a:buFont typeface="Roboto Slab"/>
              <a:buChar char="○"/>
            </a:pPr>
            <a:r>
              <a:rPr lang="en-US" sz="2000">
                <a:latin typeface="Roboto Slab"/>
                <a:ea typeface="Roboto Slab"/>
                <a:cs typeface="Roboto Slab"/>
                <a:sym typeface="Roboto Slab"/>
              </a:rPr>
              <a:t>It is a condition when blood flow to the heart is blocked, causing heart muscle tissue to die</a:t>
            </a:r>
            <a:endParaRPr sz="2000">
              <a:latin typeface="Roboto Slab"/>
              <a:ea typeface="Roboto Slab"/>
              <a:cs typeface="Roboto Slab"/>
              <a:sym typeface="Roboto Slab"/>
            </a:endParaRPr>
          </a:p>
          <a:p>
            <a:pPr indent="-355600" lvl="0" marL="457200" rtl="0" algn="l">
              <a:spcBef>
                <a:spcPts val="0"/>
              </a:spcBef>
              <a:spcAft>
                <a:spcPts val="0"/>
              </a:spcAft>
              <a:buSzPts val="2000"/>
              <a:buFont typeface="Roboto Slab"/>
              <a:buChar char="●"/>
            </a:pPr>
            <a:r>
              <a:rPr lang="en-US" sz="2000">
                <a:latin typeface="Roboto Slab"/>
                <a:ea typeface="Roboto Slab"/>
                <a:cs typeface="Roboto Slab"/>
                <a:sym typeface="Roboto Slab"/>
              </a:rPr>
              <a:t>When MI patients arrive at the emergency department, clinicians must quickly assess complication risk.</a:t>
            </a:r>
            <a:br>
              <a:rPr lang="en-US" sz="2000">
                <a:latin typeface="Roboto Slab"/>
                <a:ea typeface="Roboto Slab"/>
                <a:cs typeface="Roboto Slab"/>
                <a:sym typeface="Roboto Slab"/>
              </a:rPr>
            </a:br>
            <a:endParaRPr sz="2000">
              <a:latin typeface="Roboto Slab"/>
              <a:ea typeface="Roboto Slab"/>
              <a:cs typeface="Roboto Slab"/>
              <a:sym typeface="Roboto Slab"/>
            </a:endParaRPr>
          </a:p>
          <a:p>
            <a:pPr indent="-355600" lvl="0" marL="457200" rtl="0" algn="l">
              <a:spcBef>
                <a:spcPts val="0"/>
              </a:spcBef>
              <a:spcAft>
                <a:spcPts val="0"/>
              </a:spcAft>
              <a:buSzPts val="2000"/>
              <a:buFont typeface="Roboto Slab"/>
              <a:buChar char="●"/>
            </a:pPr>
            <a:r>
              <a:rPr lang="en-US" sz="2000">
                <a:latin typeface="Roboto Slab"/>
                <a:ea typeface="Roboto Slab"/>
                <a:cs typeface="Roboto Slab"/>
                <a:sym typeface="Roboto Slab"/>
              </a:rPr>
              <a:t>Major </a:t>
            </a:r>
            <a:r>
              <a:rPr lang="en-US" sz="2000">
                <a:latin typeface="Roboto Slab"/>
                <a:ea typeface="Roboto Slab"/>
                <a:cs typeface="Roboto Slab"/>
                <a:sym typeface="Roboto Slab"/>
              </a:rPr>
              <a:t>Complications: cardiogenic shock, acute heart failure, pulmonary edema, recurrent MI, or deadly arrhythmias.</a:t>
            </a:r>
            <a:endParaRPr sz="2000">
              <a:latin typeface="Roboto Slab"/>
              <a:ea typeface="Roboto Slab"/>
              <a:cs typeface="Roboto Slab"/>
              <a:sym typeface="Roboto Slab"/>
            </a:endParaRPr>
          </a:p>
        </p:txBody>
      </p:sp>
      <p:pic>
        <p:nvPicPr>
          <p:cNvPr id="94" name="Google Shape;94;g3aacd49ec51_0_5"/>
          <p:cNvPicPr preferRelativeResize="0"/>
          <p:nvPr/>
        </p:nvPicPr>
        <p:blipFill>
          <a:blip r:embed="rId3">
            <a:alphaModFix/>
          </a:blip>
          <a:stretch>
            <a:fillRect/>
          </a:stretch>
        </p:blipFill>
        <p:spPr>
          <a:xfrm>
            <a:off x="5891100" y="1986425"/>
            <a:ext cx="3015151" cy="402022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aacd49ec51_0_10"/>
          <p:cNvSpPr txBox="1"/>
          <p:nvPr>
            <p:ph type="title"/>
          </p:nvPr>
        </p:nvSpPr>
        <p:spPr>
          <a:xfrm>
            <a:off x="387900" y="610700"/>
            <a:ext cx="8368200" cy="914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US"/>
              <a:t>Project Objective</a:t>
            </a:r>
            <a:endParaRPr/>
          </a:p>
        </p:txBody>
      </p:sp>
      <p:sp>
        <p:nvSpPr>
          <p:cNvPr id="100" name="Google Shape;100;g3aacd49ec51_0_10"/>
          <p:cNvSpPr txBox="1"/>
          <p:nvPr>
            <p:ph idx="1" type="body"/>
          </p:nvPr>
        </p:nvSpPr>
        <p:spPr>
          <a:xfrm>
            <a:off x="387900" y="1986432"/>
            <a:ext cx="8368200" cy="4105200"/>
          </a:xfrm>
          <a:prstGeom prst="rect">
            <a:avLst/>
          </a:prstGeom>
        </p:spPr>
        <p:txBody>
          <a:bodyPr anchorCtr="0" anchor="t" bIns="91425" lIns="91425" spcFirstLastPara="1" rIns="91425" wrap="square" tIns="91425">
            <a:normAutofit/>
          </a:bodyPr>
          <a:lstStyle/>
          <a:p>
            <a:pPr indent="-355600" lvl="0" marL="457200" rtl="0" algn="l">
              <a:lnSpc>
                <a:spcPct val="150000"/>
              </a:lnSpc>
              <a:spcBef>
                <a:spcPts val="0"/>
              </a:spcBef>
              <a:spcAft>
                <a:spcPts val="0"/>
              </a:spcAft>
              <a:buSzPts val="2000"/>
              <a:buFont typeface="Roboto Slab"/>
              <a:buAutoNum type="arabicPeriod"/>
            </a:pPr>
            <a:r>
              <a:rPr lang="en-US" sz="2000">
                <a:latin typeface="Roboto Slab"/>
                <a:ea typeface="Roboto Slab"/>
                <a:cs typeface="Roboto Slab"/>
                <a:sym typeface="Roboto Slab"/>
              </a:rPr>
              <a:t>Predict risk of Major/Lethal Complications using admission-time clinical features.</a:t>
            </a:r>
            <a:endParaRPr sz="2000">
              <a:latin typeface="Roboto Slab"/>
              <a:ea typeface="Roboto Slab"/>
              <a:cs typeface="Roboto Slab"/>
              <a:sym typeface="Roboto Slab"/>
            </a:endParaRPr>
          </a:p>
          <a:p>
            <a:pPr indent="-355600" lvl="0" marL="457200" rtl="0" algn="l">
              <a:lnSpc>
                <a:spcPct val="150000"/>
              </a:lnSpc>
              <a:spcBef>
                <a:spcPts val="0"/>
              </a:spcBef>
              <a:spcAft>
                <a:spcPts val="0"/>
              </a:spcAft>
              <a:buSzPts val="2000"/>
              <a:buFont typeface="Roboto Slab"/>
              <a:buAutoNum type="arabicPeriod"/>
            </a:pPr>
            <a:r>
              <a:rPr lang="en-US" sz="2000">
                <a:latin typeface="Roboto Slab"/>
                <a:ea typeface="Roboto Slab"/>
                <a:cs typeface="Roboto Slab"/>
                <a:sym typeface="Roboto Slab"/>
              </a:rPr>
              <a:t>A</a:t>
            </a:r>
            <a:r>
              <a:rPr lang="en-US" sz="2000">
                <a:latin typeface="Roboto Slab"/>
                <a:ea typeface="Roboto Slab"/>
                <a:cs typeface="Roboto Slab"/>
                <a:sym typeface="Roboto Slab"/>
              </a:rPr>
              <a:t>chieve e</a:t>
            </a:r>
            <a:r>
              <a:rPr lang="en-US" sz="2000">
                <a:latin typeface="Roboto Slab"/>
                <a:ea typeface="Roboto Slab"/>
                <a:cs typeface="Roboto Slab"/>
                <a:sym typeface="Roboto Slab"/>
              </a:rPr>
              <a:t>arly risk prediction, allowing hospitals to allocate ICU beds, monitoring devices, and staff more effectively.</a:t>
            </a:r>
            <a:endParaRPr sz="2000">
              <a:latin typeface="Roboto Slab"/>
              <a:ea typeface="Roboto Slab"/>
              <a:cs typeface="Roboto Slab"/>
              <a:sym typeface="Roboto Slab"/>
            </a:endParaRPr>
          </a:p>
          <a:p>
            <a:pPr indent="-355600" lvl="0" marL="457200" rtl="0" algn="l">
              <a:lnSpc>
                <a:spcPct val="150000"/>
              </a:lnSpc>
              <a:spcBef>
                <a:spcPts val="0"/>
              </a:spcBef>
              <a:spcAft>
                <a:spcPts val="0"/>
              </a:spcAft>
              <a:buSzPts val="2000"/>
              <a:buFont typeface="Roboto Slab"/>
              <a:buAutoNum type="arabicPeriod"/>
            </a:pPr>
            <a:r>
              <a:rPr lang="en-US" sz="2000">
                <a:latin typeface="Roboto Slab"/>
                <a:ea typeface="Roboto Slab"/>
                <a:cs typeface="Roboto Slab"/>
                <a:sym typeface="Roboto Slab"/>
              </a:rPr>
              <a:t>Utilize a dataset of 1,700 patient entries &amp; 124 features.</a:t>
            </a:r>
            <a:endParaRPr sz="2000">
              <a:latin typeface="Roboto Slab"/>
              <a:ea typeface="Roboto Slab"/>
              <a:cs typeface="Roboto Slab"/>
              <a:sym typeface="Roboto Slab"/>
            </a:endParaRPr>
          </a:p>
          <a:p>
            <a:pPr indent="-355600" lvl="0" marL="457200" rtl="0" algn="l">
              <a:lnSpc>
                <a:spcPct val="150000"/>
              </a:lnSpc>
              <a:spcBef>
                <a:spcPts val="0"/>
              </a:spcBef>
              <a:spcAft>
                <a:spcPts val="0"/>
              </a:spcAft>
              <a:buSzPts val="2000"/>
              <a:buFont typeface="Roboto Slab"/>
              <a:buAutoNum type="arabicPeriod"/>
            </a:pPr>
            <a:r>
              <a:rPr lang="en-US" sz="2000">
                <a:latin typeface="Roboto Slab"/>
                <a:ea typeface="Roboto Slab"/>
                <a:cs typeface="Roboto Slab"/>
                <a:sym typeface="Roboto Slab"/>
              </a:rPr>
              <a:t>Compare two modeling pipelines</a:t>
            </a:r>
            <a:endParaRPr sz="2000">
              <a:latin typeface="Roboto Slab"/>
              <a:ea typeface="Roboto Slab"/>
              <a:cs typeface="Roboto Slab"/>
              <a:sym typeface="Roboto Slab"/>
            </a:endParaRPr>
          </a:p>
          <a:p>
            <a:pPr indent="-355600" lvl="0" marL="457200" rtl="0" algn="l">
              <a:lnSpc>
                <a:spcPct val="150000"/>
              </a:lnSpc>
              <a:spcBef>
                <a:spcPts val="0"/>
              </a:spcBef>
              <a:spcAft>
                <a:spcPts val="0"/>
              </a:spcAft>
              <a:buSzPts val="2000"/>
              <a:buFont typeface="Roboto Slab"/>
              <a:buAutoNum type="arabicPeriod"/>
            </a:pPr>
            <a:r>
              <a:rPr lang="en-US" sz="2000">
                <a:latin typeface="Roboto Slab"/>
                <a:ea typeface="Roboto Slab"/>
                <a:cs typeface="Roboto Slab"/>
                <a:sym typeface="Roboto Slab"/>
              </a:rPr>
              <a:t>Identify which ML model performs best clinically.</a:t>
            </a:r>
            <a:endParaRPr sz="2000">
              <a:latin typeface="Roboto Slab"/>
              <a:ea typeface="Roboto Slab"/>
              <a:cs typeface="Roboto Slab"/>
              <a:sym typeface="Roboto Slab"/>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3aacd49ec51_0_15"/>
          <p:cNvSpPr txBox="1"/>
          <p:nvPr>
            <p:ph type="title"/>
          </p:nvPr>
        </p:nvSpPr>
        <p:spPr>
          <a:xfrm>
            <a:off x="387900" y="610700"/>
            <a:ext cx="8368200" cy="914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US"/>
              <a:t>The Dataset Preprocessing</a:t>
            </a:r>
            <a:endParaRPr/>
          </a:p>
        </p:txBody>
      </p:sp>
      <p:sp>
        <p:nvSpPr>
          <p:cNvPr id="106" name="Google Shape;106;g3aacd49ec51_0_15"/>
          <p:cNvSpPr txBox="1"/>
          <p:nvPr>
            <p:ph idx="1" type="body"/>
          </p:nvPr>
        </p:nvSpPr>
        <p:spPr>
          <a:xfrm>
            <a:off x="3443225" y="1832575"/>
            <a:ext cx="5422500" cy="43875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1,700 patients data entries </a:t>
            </a:r>
            <a:br>
              <a:rPr lang="en-US" sz="2000">
                <a:latin typeface="Roboto Slab Light"/>
                <a:ea typeface="Roboto Slab Light"/>
                <a:cs typeface="Roboto Slab Light"/>
                <a:sym typeface="Roboto Slab Light"/>
              </a:rPr>
            </a:br>
            <a:endParaRPr sz="2000">
              <a:latin typeface="Roboto Slab Light"/>
              <a:ea typeface="Roboto Slab Light"/>
              <a:cs typeface="Roboto Slab Light"/>
              <a:sym typeface="Roboto Slab Light"/>
            </a:endParaRPr>
          </a:p>
          <a:p>
            <a:pPr indent="-355600" lvl="0" marL="4572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Cleaning </a:t>
            </a:r>
            <a:r>
              <a:rPr lang="en-US" sz="2000">
                <a:latin typeface="Roboto Slab Light"/>
                <a:ea typeface="Roboto Slab Light"/>
                <a:cs typeface="Roboto Slab Light"/>
                <a:sym typeface="Roboto Slab Light"/>
              </a:rPr>
              <a:t>Steps:</a:t>
            </a:r>
            <a:endParaRPr sz="2000">
              <a:latin typeface="Roboto Slab Light"/>
              <a:ea typeface="Roboto Slab Light"/>
              <a:cs typeface="Roboto Slab Light"/>
              <a:sym typeface="Roboto Slab Light"/>
            </a:endParaRPr>
          </a:p>
          <a:p>
            <a:pPr indent="-355600" lvl="1" marL="9144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Dropped ID feature</a:t>
            </a:r>
            <a:endParaRPr sz="2000">
              <a:latin typeface="Roboto Slab Light"/>
              <a:ea typeface="Roboto Slab Light"/>
              <a:cs typeface="Roboto Slab Light"/>
              <a:sym typeface="Roboto Slab Light"/>
            </a:endParaRPr>
          </a:p>
          <a:p>
            <a:pPr indent="-355600" lvl="1" marL="9144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15,974 missing values handled by median imputation for numeric, mode for categorical</a:t>
            </a:r>
            <a:endParaRPr sz="2000">
              <a:latin typeface="Roboto Slab Light"/>
              <a:ea typeface="Roboto Slab Light"/>
              <a:cs typeface="Roboto Slab Light"/>
              <a:sym typeface="Roboto Slab Light"/>
            </a:endParaRPr>
          </a:p>
          <a:p>
            <a:pPr indent="-355600" lvl="1" marL="9144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Created binary target variable: Major_Complication</a:t>
            </a:r>
            <a:br>
              <a:rPr lang="en-US" sz="2000">
                <a:latin typeface="Roboto Slab Light"/>
                <a:ea typeface="Roboto Slab Light"/>
                <a:cs typeface="Roboto Slab Light"/>
                <a:sym typeface="Roboto Slab Light"/>
              </a:rPr>
            </a:br>
            <a:endParaRPr sz="2000">
              <a:latin typeface="Roboto Slab Light"/>
              <a:ea typeface="Roboto Slab Light"/>
              <a:cs typeface="Roboto Slab Light"/>
              <a:sym typeface="Roboto Slab Light"/>
            </a:endParaRPr>
          </a:p>
          <a:p>
            <a:pPr indent="-355600" lvl="0" marL="4572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Filtering with Mutual Information to handle high dimensionality of the raw data (124 attributes)</a:t>
            </a:r>
            <a:endParaRPr sz="2000">
              <a:latin typeface="Roboto Slab Light"/>
              <a:ea typeface="Roboto Slab Light"/>
              <a:cs typeface="Roboto Slab Light"/>
              <a:sym typeface="Roboto Slab Light"/>
            </a:endParaRPr>
          </a:p>
        </p:txBody>
      </p:sp>
      <p:pic>
        <p:nvPicPr>
          <p:cNvPr id="107" name="Google Shape;107;g3aacd49ec51_0_15"/>
          <p:cNvPicPr preferRelativeResize="0"/>
          <p:nvPr/>
        </p:nvPicPr>
        <p:blipFill>
          <a:blip r:embed="rId3">
            <a:alphaModFix/>
          </a:blip>
          <a:stretch>
            <a:fillRect/>
          </a:stretch>
        </p:blipFill>
        <p:spPr>
          <a:xfrm>
            <a:off x="304800" y="2457113"/>
            <a:ext cx="3138425" cy="31384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g3ab73eeb74a_0_3"/>
          <p:cNvSpPr txBox="1"/>
          <p:nvPr>
            <p:ph type="title"/>
          </p:nvPr>
        </p:nvSpPr>
        <p:spPr>
          <a:xfrm>
            <a:off x="387900" y="240300"/>
            <a:ext cx="8368200" cy="9147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US"/>
              <a:t>Exploratory Data Analysis</a:t>
            </a:r>
            <a:endParaRPr/>
          </a:p>
        </p:txBody>
      </p:sp>
      <p:sp>
        <p:nvSpPr>
          <p:cNvPr id="113" name="Google Shape;113;g3ab73eeb74a_0_3"/>
          <p:cNvSpPr txBox="1"/>
          <p:nvPr>
            <p:ph idx="1" type="body"/>
          </p:nvPr>
        </p:nvSpPr>
        <p:spPr>
          <a:xfrm>
            <a:off x="334950" y="4039500"/>
            <a:ext cx="8474100" cy="205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US" sz="1700" u="sng">
                <a:latin typeface="Roboto Slab"/>
                <a:ea typeface="Roboto Slab"/>
                <a:cs typeface="Roboto Slab"/>
                <a:sym typeface="Roboto Slab"/>
              </a:rPr>
              <a:t>Prior to cleaning:</a:t>
            </a:r>
            <a:endParaRPr b="1" sz="1700" u="sng">
              <a:latin typeface="Roboto Slab"/>
              <a:ea typeface="Roboto Slab"/>
              <a:cs typeface="Roboto Slab"/>
              <a:sym typeface="Roboto Slab"/>
            </a:endParaRPr>
          </a:p>
          <a:p>
            <a:pPr indent="-336550" lvl="0" marL="457200" rtl="0" algn="l">
              <a:spcBef>
                <a:spcPts val="1200"/>
              </a:spcBef>
              <a:spcAft>
                <a:spcPts val="0"/>
              </a:spcAft>
              <a:buSzPts val="1700"/>
              <a:buFont typeface="Roboto Slab"/>
              <a:buChar char="●"/>
            </a:pPr>
            <a:r>
              <a:rPr lang="en-US" sz="1700">
                <a:latin typeface="Roboto Slab"/>
                <a:ea typeface="Roboto Slab"/>
                <a:cs typeface="Roboto Slab"/>
                <a:sym typeface="Roboto Slab"/>
              </a:rPr>
              <a:t>Age Distribution (Box Plot)</a:t>
            </a:r>
            <a:endParaRPr sz="1700">
              <a:latin typeface="Roboto Slab"/>
              <a:ea typeface="Roboto Slab"/>
              <a:cs typeface="Roboto Slab"/>
              <a:sym typeface="Roboto Slab"/>
            </a:endParaRPr>
          </a:p>
          <a:p>
            <a:pPr indent="-336550" lvl="1" marL="914400" rtl="0" algn="l">
              <a:spcBef>
                <a:spcPts val="0"/>
              </a:spcBef>
              <a:spcAft>
                <a:spcPts val="0"/>
              </a:spcAft>
              <a:buSzPts val="1700"/>
              <a:buFont typeface="Roboto Slab"/>
              <a:buChar char="○"/>
            </a:pPr>
            <a:r>
              <a:rPr lang="en-US" sz="1700">
                <a:latin typeface="Roboto Slab"/>
                <a:ea typeface="Roboto Slab"/>
                <a:cs typeface="Roboto Slab"/>
                <a:sym typeface="Roboto Slab"/>
              </a:rPr>
              <a:t>Ages are roughly normal but skewed older (peak: 60–70).</a:t>
            </a:r>
            <a:endParaRPr sz="1700">
              <a:latin typeface="Roboto Slab"/>
              <a:ea typeface="Roboto Slab"/>
              <a:cs typeface="Roboto Slab"/>
              <a:sym typeface="Roboto Slab"/>
            </a:endParaRPr>
          </a:p>
          <a:p>
            <a:pPr indent="-336550" lvl="1" marL="914400" rtl="0" algn="l">
              <a:spcBef>
                <a:spcPts val="0"/>
              </a:spcBef>
              <a:spcAft>
                <a:spcPts val="0"/>
              </a:spcAft>
              <a:buSzPts val="1700"/>
              <a:buFont typeface="Roboto Slab"/>
              <a:buChar char="○"/>
            </a:pPr>
            <a:r>
              <a:rPr lang="en-US" sz="1700">
                <a:latin typeface="Roboto Slab"/>
                <a:ea typeface="Roboto Slab"/>
                <a:cs typeface="Roboto Slab"/>
                <a:sym typeface="Roboto Slab"/>
              </a:rPr>
              <a:t>Very young (&lt;40) and very old (&gt;85) patients are underrepresented.</a:t>
            </a:r>
            <a:endParaRPr sz="1700">
              <a:latin typeface="Roboto Slab"/>
              <a:ea typeface="Roboto Slab"/>
              <a:cs typeface="Roboto Slab"/>
              <a:sym typeface="Roboto Slab"/>
            </a:endParaRPr>
          </a:p>
          <a:p>
            <a:pPr indent="-336550" lvl="0" marL="457200" rtl="0" algn="l">
              <a:spcBef>
                <a:spcPts val="0"/>
              </a:spcBef>
              <a:spcAft>
                <a:spcPts val="0"/>
              </a:spcAft>
              <a:buSzPts val="1700"/>
              <a:buFont typeface="Roboto Slab"/>
              <a:buChar char="●"/>
            </a:pPr>
            <a:r>
              <a:rPr lang="en-US" sz="1700">
                <a:latin typeface="Roboto Slab"/>
                <a:ea typeface="Roboto Slab"/>
                <a:cs typeface="Roboto Slab"/>
                <a:sym typeface="Roboto Slab"/>
              </a:rPr>
              <a:t>Target Variable (Bar Chart)</a:t>
            </a:r>
            <a:endParaRPr sz="1700">
              <a:latin typeface="Roboto Slab"/>
              <a:ea typeface="Roboto Slab"/>
              <a:cs typeface="Roboto Slab"/>
              <a:sym typeface="Roboto Slab"/>
            </a:endParaRPr>
          </a:p>
          <a:p>
            <a:pPr indent="-336550" lvl="1" marL="914400" rtl="0" algn="l">
              <a:spcBef>
                <a:spcPts val="0"/>
              </a:spcBef>
              <a:spcAft>
                <a:spcPts val="0"/>
              </a:spcAft>
              <a:buSzPts val="1700"/>
              <a:buFont typeface="Roboto Slab"/>
              <a:buChar char="○"/>
            </a:pPr>
            <a:r>
              <a:rPr lang="en-US" sz="1700">
                <a:latin typeface="Roboto Slab"/>
                <a:ea typeface="Roboto Slab"/>
                <a:cs typeface="Roboto Slab"/>
                <a:sym typeface="Roboto Slab"/>
              </a:rPr>
              <a:t>Severe class imbalance (~8:1).</a:t>
            </a:r>
            <a:endParaRPr sz="1700">
              <a:latin typeface="Roboto Slab"/>
              <a:ea typeface="Roboto Slab"/>
              <a:cs typeface="Roboto Slab"/>
              <a:sym typeface="Roboto Slab"/>
            </a:endParaRPr>
          </a:p>
          <a:p>
            <a:pPr indent="-336550" lvl="1" marL="914400" rtl="0" algn="l">
              <a:spcBef>
                <a:spcPts val="0"/>
              </a:spcBef>
              <a:spcAft>
                <a:spcPts val="0"/>
              </a:spcAft>
              <a:buSzPts val="1700"/>
              <a:buFont typeface="Roboto Slab"/>
              <a:buChar char="○"/>
            </a:pPr>
            <a:r>
              <a:rPr lang="en-US" sz="1700">
                <a:latin typeface="Roboto Slab"/>
                <a:ea typeface="Roboto Slab"/>
                <a:cs typeface="Roboto Slab"/>
                <a:sym typeface="Roboto Slab"/>
              </a:rPr>
              <a:t>Majority: no major / lethal </a:t>
            </a:r>
            <a:r>
              <a:rPr lang="en-US" sz="1700">
                <a:latin typeface="Roboto Slab"/>
                <a:ea typeface="Roboto Slab"/>
                <a:cs typeface="Roboto Slab"/>
                <a:sym typeface="Roboto Slab"/>
              </a:rPr>
              <a:t>complication</a:t>
            </a:r>
            <a:r>
              <a:rPr lang="en-US" sz="1700">
                <a:latin typeface="Roboto Slab"/>
                <a:ea typeface="Roboto Slab"/>
                <a:cs typeface="Roboto Slab"/>
                <a:sym typeface="Roboto Slab"/>
              </a:rPr>
              <a:t>; minority: major complication</a:t>
            </a:r>
            <a:endParaRPr sz="1700">
              <a:latin typeface="Roboto Slab"/>
              <a:ea typeface="Roboto Slab"/>
              <a:cs typeface="Roboto Slab"/>
              <a:sym typeface="Roboto Slab"/>
            </a:endParaRPr>
          </a:p>
          <a:p>
            <a:pPr indent="-336550" lvl="1" marL="914400" rtl="0" algn="l">
              <a:spcBef>
                <a:spcPts val="0"/>
              </a:spcBef>
              <a:spcAft>
                <a:spcPts val="0"/>
              </a:spcAft>
              <a:buSzPts val="1700"/>
              <a:buFont typeface="Roboto Slab"/>
              <a:buChar char="○"/>
            </a:pPr>
            <a:r>
              <a:rPr lang="en-US" sz="1700">
                <a:latin typeface="Roboto Slab"/>
                <a:ea typeface="Roboto Slab"/>
                <a:cs typeface="Roboto Slab"/>
                <a:sym typeface="Roboto Slab"/>
              </a:rPr>
              <a:t>Imbalance must be addressed for reliable modeling.</a:t>
            </a:r>
            <a:endParaRPr sz="1700">
              <a:latin typeface="Roboto Slab"/>
              <a:ea typeface="Roboto Slab"/>
              <a:cs typeface="Roboto Slab"/>
              <a:sym typeface="Roboto Slab"/>
            </a:endParaRPr>
          </a:p>
        </p:txBody>
      </p:sp>
      <p:pic>
        <p:nvPicPr>
          <p:cNvPr id="114" name="Google Shape;114;g3ab73eeb74a_0_3"/>
          <p:cNvPicPr preferRelativeResize="0"/>
          <p:nvPr/>
        </p:nvPicPr>
        <p:blipFill>
          <a:blip r:embed="rId3">
            <a:alphaModFix/>
          </a:blip>
          <a:stretch>
            <a:fillRect/>
          </a:stretch>
        </p:blipFill>
        <p:spPr>
          <a:xfrm>
            <a:off x="334947" y="1214138"/>
            <a:ext cx="3464003" cy="2766225"/>
          </a:xfrm>
          <a:prstGeom prst="rect">
            <a:avLst/>
          </a:prstGeom>
          <a:noFill/>
          <a:ln>
            <a:noFill/>
          </a:ln>
        </p:spPr>
      </p:pic>
      <p:pic>
        <p:nvPicPr>
          <p:cNvPr id="115" name="Google Shape;115;g3ab73eeb74a_0_3"/>
          <p:cNvPicPr preferRelativeResize="0"/>
          <p:nvPr/>
        </p:nvPicPr>
        <p:blipFill>
          <a:blip r:embed="rId4">
            <a:alphaModFix/>
          </a:blip>
          <a:stretch>
            <a:fillRect/>
          </a:stretch>
        </p:blipFill>
        <p:spPr>
          <a:xfrm>
            <a:off x="5277188" y="1214138"/>
            <a:ext cx="3531875" cy="276621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aacd49ec51_0_26"/>
          <p:cNvSpPr txBox="1"/>
          <p:nvPr>
            <p:ph type="title"/>
          </p:nvPr>
        </p:nvSpPr>
        <p:spPr>
          <a:xfrm>
            <a:off x="387900" y="912500"/>
            <a:ext cx="8368200" cy="914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US" sz="3666"/>
              <a:t>Our 1st Benchmark:</a:t>
            </a:r>
            <a:endParaRPr sz="3666"/>
          </a:p>
          <a:p>
            <a:pPr indent="0" lvl="0" marL="0" rtl="0" algn="l">
              <a:spcBef>
                <a:spcPts val="0"/>
              </a:spcBef>
              <a:spcAft>
                <a:spcPts val="0"/>
              </a:spcAft>
              <a:buNone/>
            </a:pPr>
            <a:r>
              <a:rPr lang="en-US" sz="3666"/>
              <a:t>Simple Decision Tree</a:t>
            </a:r>
            <a:endParaRPr sz="3666"/>
          </a:p>
          <a:p>
            <a:pPr indent="0" lvl="0" marL="0" rtl="0" algn="l">
              <a:spcBef>
                <a:spcPts val="0"/>
              </a:spcBef>
              <a:spcAft>
                <a:spcPts val="0"/>
              </a:spcAft>
              <a:buNone/>
            </a:pPr>
            <a:r>
              <a:t/>
            </a:r>
            <a:endParaRPr/>
          </a:p>
        </p:txBody>
      </p:sp>
      <p:sp>
        <p:nvSpPr>
          <p:cNvPr id="121" name="Google Shape;121;g3aacd49ec51_0_26"/>
          <p:cNvSpPr txBox="1"/>
          <p:nvPr>
            <p:ph idx="1" type="body"/>
          </p:nvPr>
        </p:nvSpPr>
        <p:spPr>
          <a:xfrm>
            <a:off x="387900" y="1986425"/>
            <a:ext cx="4937700" cy="4105200"/>
          </a:xfrm>
          <a:prstGeom prst="rect">
            <a:avLst/>
          </a:prstGeom>
        </p:spPr>
        <p:txBody>
          <a:bodyPr anchorCtr="0" anchor="t" bIns="91425" lIns="91425" spcFirstLastPara="1" rIns="91425" wrap="square" tIns="91425">
            <a:noAutofit/>
          </a:bodyPr>
          <a:lstStyle/>
          <a:p>
            <a:pPr indent="-349250" lvl="0" marL="457200" rtl="0" algn="l">
              <a:spcBef>
                <a:spcPts val="0"/>
              </a:spcBef>
              <a:spcAft>
                <a:spcPts val="0"/>
              </a:spcAft>
              <a:buSzPts val="1900"/>
              <a:buFont typeface="Roboto Slab Light"/>
              <a:buChar char="●"/>
            </a:pPr>
            <a:r>
              <a:rPr lang="en-US" sz="1900">
                <a:latin typeface="Roboto Slab Light"/>
                <a:ea typeface="Roboto Slab Light"/>
                <a:cs typeface="Roboto Slab Light"/>
                <a:sym typeface="Roboto Slab Light"/>
              </a:rPr>
              <a:t>Only ~16% of patients had major complications; model becomes biased toward predicting “low-risk.”</a:t>
            </a:r>
            <a:endParaRPr sz="1900">
              <a:latin typeface="Roboto Slab Light"/>
              <a:ea typeface="Roboto Slab Light"/>
              <a:cs typeface="Roboto Slab Light"/>
              <a:sym typeface="Roboto Slab Light"/>
            </a:endParaRPr>
          </a:p>
          <a:p>
            <a:pPr indent="-349250" lvl="1" marL="914400" rtl="0" algn="l">
              <a:spcBef>
                <a:spcPts val="0"/>
              </a:spcBef>
              <a:spcAft>
                <a:spcPts val="0"/>
              </a:spcAft>
              <a:buSzPts val="1900"/>
              <a:buFont typeface="Roboto Slab Light"/>
              <a:buChar char="○"/>
            </a:pPr>
            <a:r>
              <a:rPr lang="en-US" sz="1900">
                <a:latin typeface="Roboto Slab Light"/>
                <a:ea typeface="Roboto Slab Light"/>
                <a:cs typeface="Roboto Slab Light"/>
                <a:sym typeface="Roboto Slab Light"/>
              </a:rPr>
              <a:t>result of </a:t>
            </a:r>
            <a:r>
              <a:rPr b="1" lang="en-US" sz="1900">
                <a:latin typeface="Roboto Slab"/>
                <a:ea typeface="Roboto Slab"/>
                <a:cs typeface="Roboto Slab"/>
                <a:sym typeface="Roboto Slab"/>
              </a:rPr>
              <a:t>imbalanced</a:t>
            </a:r>
            <a:r>
              <a:rPr b="1" lang="en-US" sz="1900">
                <a:latin typeface="Roboto Slab"/>
                <a:ea typeface="Roboto Slab"/>
                <a:cs typeface="Roboto Slab"/>
                <a:sym typeface="Roboto Slab"/>
              </a:rPr>
              <a:t> dataset </a:t>
            </a:r>
            <a:r>
              <a:rPr lang="en-US" sz="1900">
                <a:latin typeface="Roboto Slab Light"/>
                <a:ea typeface="Roboto Slab Light"/>
                <a:cs typeface="Roboto Slab Light"/>
                <a:sym typeface="Roboto Slab Light"/>
              </a:rPr>
              <a:t>(dangerous in a clinical setting)</a:t>
            </a:r>
            <a:br>
              <a:rPr lang="en-US" sz="1900">
                <a:latin typeface="Roboto Slab Light"/>
                <a:ea typeface="Roboto Slab Light"/>
                <a:cs typeface="Roboto Slab Light"/>
                <a:sym typeface="Roboto Slab Light"/>
              </a:rPr>
            </a:br>
            <a:endParaRPr sz="1900">
              <a:latin typeface="Roboto Slab Light"/>
              <a:ea typeface="Roboto Slab Light"/>
              <a:cs typeface="Roboto Slab Light"/>
              <a:sym typeface="Roboto Slab Light"/>
            </a:endParaRPr>
          </a:p>
          <a:p>
            <a:pPr indent="-349250" lvl="0" marL="457200" rtl="0" algn="l">
              <a:spcBef>
                <a:spcPts val="0"/>
              </a:spcBef>
              <a:spcAft>
                <a:spcPts val="0"/>
              </a:spcAft>
              <a:buSzPts val="1900"/>
              <a:buFont typeface="Roboto Slab"/>
              <a:buChar char="●"/>
            </a:pPr>
            <a:r>
              <a:rPr b="1" lang="en-US" sz="1900">
                <a:latin typeface="Roboto Slab"/>
                <a:ea typeface="Roboto Slab"/>
                <a:cs typeface="Roboto Slab"/>
                <a:sym typeface="Roboto Slab"/>
              </a:rPr>
              <a:t>Accuracy alone becomes misleading.</a:t>
            </a:r>
            <a:endParaRPr b="1" sz="1900">
              <a:latin typeface="Roboto Slab"/>
              <a:ea typeface="Roboto Slab"/>
              <a:cs typeface="Roboto Slab"/>
              <a:sym typeface="Roboto Slab"/>
            </a:endParaRPr>
          </a:p>
          <a:p>
            <a:pPr indent="-349250" lvl="0" marL="457200" rtl="0" algn="l">
              <a:spcBef>
                <a:spcPts val="0"/>
              </a:spcBef>
              <a:spcAft>
                <a:spcPts val="0"/>
              </a:spcAft>
              <a:buSzPts val="1900"/>
              <a:buFont typeface="Roboto Slab Light"/>
              <a:buChar char="●"/>
            </a:pPr>
            <a:r>
              <a:rPr lang="en-US" sz="1900">
                <a:latin typeface="Roboto Slab Light"/>
                <a:ea typeface="Roboto Slab Light"/>
                <a:cs typeface="Roboto Slab Light"/>
                <a:sym typeface="Roboto Slab Light"/>
              </a:rPr>
              <a:t>Approximately 76% overall accuracy</a:t>
            </a:r>
            <a:endParaRPr sz="1900">
              <a:latin typeface="Roboto Slab Light"/>
              <a:ea typeface="Roboto Slab Light"/>
              <a:cs typeface="Roboto Slab Light"/>
              <a:sym typeface="Roboto Slab Light"/>
            </a:endParaRPr>
          </a:p>
          <a:p>
            <a:pPr indent="-349250" lvl="0" marL="457200" rtl="0" algn="l">
              <a:spcBef>
                <a:spcPts val="0"/>
              </a:spcBef>
              <a:spcAft>
                <a:spcPts val="0"/>
              </a:spcAft>
              <a:buSzPts val="1900"/>
              <a:buFont typeface="Roboto Slab"/>
              <a:buChar char="●"/>
            </a:pPr>
            <a:r>
              <a:rPr b="1" lang="en-US" sz="1900">
                <a:latin typeface="Roboto Slab"/>
                <a:ea typeface="Roboto Slab"/>
                <a:cs typeface="Roboto Slab"/>
                <a:sym typeface="Roboto Slab"/>
              </a:rPr>
              <a:t>High-risk MI patients reaching only a 37% precision</a:t>
            </a:r>
            <a:endParaRPr b="1" sz="1900">
              <a:latin typeface="Roboto Slab"/>
              <a:ea typeface="Roboto Slab"/>
              <a:cs typeface="Roboto Slab"/>
              <a:sym typeface="Roboto Slab"/>
            </a:endParaRPr>
          </a:p>
          <a:p>
            <a:pPr indent="-349250" lvl="0" marL="457200" rtl="0" algn="l">
              <a:spcBef>
                <a:spcPts val="0"/>
              </a:spcBef>
              <a:spcAft>
                <a:spcPts val="0"/>
              </a:spcAft>
              <a:buSzPts val="1900"/>
              <a:buFont typeface="Roboto Slab Light"/>
              <a:buChar char="●"/>
            </a:pPr>
            <a:r>
              <a:rPr lang="en-US" sz="1900">
                <a:latin typeface="Roboto Slab Light"/>
                <a:ea typeface="Roboto Slab Light"/>
                <a:cs typeface="Roboto Slab Light"/>
                <a:sym typeface="Roboto Slab Light"/>
              </a:rPr>
              <a:t>Key metrics to track: Recall (sensitivity), Precision, F1-score, Confusion matrix</a:t>
            </a:r>
            <a:endParaRPr sz="1900">
              <a:latin typeface="Roboto Slab Light"/>
              <a:ea typeface="Roboto Slab Light"/>
              <a:cs typeface="Roboto Slab Light"/>
              <a:sym typeface="Roboto Slab Light"/>
            </a:endParaRPr>
          </a:p>
        </p:txBody>
      </p:sp>
      <p:pic>
        <p:nvPicPr>
          <p:cNvPr id="122" name="Google Shape;122;g3aacd49ec51_0_26"/>
          <p:cNvPicPr preferRelativeResize="0"/>
          <p:nvPr/>
        </p:nvPicPr>
        <p:blipFill>
          <a:blip r:embed="rId3">
            <a:alphaModFix/>
          </a:blip>
          <a:stretch>
            <a:fillRect/>
          </a:stretch>
        </p:blipFill>
        <p:spPr>
          <a:xfrm>
            <a:off x="5559246" y="1525396"/>
            <a:ext cx="3436050" cy="46271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t>Modeling</a:t>
            </a:r>
            <a:r>
              <a:rPr lang="en-US" sz="4400">
                <a:solidFill>
                  <a:schemeClr val="dk1"/>
                </a:solidFill>
              </a:rPr>
              <a:t> Approaches</a:t>
            </a:r>
            <a:endParaRPr/>
          </a:p>
        </p:txBody>
      </p:sp>
      <p:sp>
        <p:nvSpPr>
          <p:cNvPr id="128" name="Google Shape;128;p5"/>
          <p:cNvSpPr txBox="1"/>
          <p:nvPr>
            <p:ph idx="1" type="body"/>
          </p:nvPr>
        </p:nvSpPr>
        <p:spPr>
          <a:xfrm>
            <a:off x="457200" y="1165950"/>
            <a:ext cx="8229600" cy="4526100"/>
          </a:xfrm>
          <a:prstGeom prst="rect">
            <a:avLst/>
          </a:prstGeom>
          <a:noFill/>
          <a:ln>
            <a:noFill/>
          </a:ln>
        </p:spPr>
        <p:txBody>
          <a:bodyPr anchorCtr="0" anchor="t" bIns="45700" lIns="91425" spcFirstLastPara="1" rIns="91425" wrap="square" tIns="45700">
            <a:normAutofit/>
          </a:bodyPr>
          <a:lstStyle/>
          <a:p>
            <a:pPr indent="-139700" lvl="0" marL="342900" rtl="0" algn="l">
              <a:spcBef>
                <a:spcPts val="0"/>
              </a:spcBef>
              <a:spcAft>
                <a:spcPts val="0"/>
              </a:spcAft>
              <a:buClr>
                <a:schemeClr val="dk1"/>
              </a:buClr>
              <a:buSzPts val="3200"/>
              <a:buNone/>
            </a:pPr>
            <a:r>
              <a:t/>
            </a:r>
            <a:endParaRPr sz="2500">
              <a:solidFill>
                <a:schemeClr val="dk1"/>
              </a:solidFill>
              <a:latin typeface="Roboto Slab"/>
              <a:ea typeface="Roboto Slab"/>
              <a:cs typeface="Roboto Slab"/>
              <a:sym typeface="Roboto Slab"/>
            </a:endParaRPr>
          </a:p>
          <a:p>
            <a:pPr indent="0" lvl="0" marL="2743200" rtl="0" algn="l">
              <a:spcBef>
                <a:spcPts val="640"/>
              </a:spcBef>
              <a:spcAft>
                <a:spcPts val="0"/>
              </a:spcAft>
              <a:buNone/>
            </a:pPr>
            <a:r>
              <a:rPr lang="en-US" sz="2500">
                <a:latin typeface="Roboto Slab"/>
                <a:ea typeface="Roboto Slab"/>
                <a:cs typeface="Roboto Slab"/>
                <a:sym typeface="Roboto Slab"/>
              </a:rPr>
              <a:t>Feature selection → Decision Tree  → Post Pruning → SMOTE</a:t>
            </a:r>
            <a:endParaRPr sz="2500">
              <a:latin typeface="Roboto Slab"/>
              <a:ea typeface="Roboto Slab"/>
              <a:cs typeface="Roboto Slab"/>
              <a:sym typeface="Roboto Slab"/>
            </a:endParaRPr>
          </a:p>
          <a:p>
            <a:pPr indent="457200" lvl="0" marL="2743200" rtl="0" algn="l">
              <a:spcBef>
                <a:spcPts val="1200"/>
              </a:spcBef>
              <a:spcAft>
                <a:spcPts val="0"/>
              </a:spcAft>
              <a:buNone/>
            </a:pPr>
            <a:br>
              <a:rPr lang="en-US" sz="2500">
                <a:latin typeface="Roboto Slab"/>
                <a:ea typeface="Roboto Slab"/>
                <a:cs typeface="Roboto Slab"/>
                <a:sym typeface="Roboto Slab"/>
              </a:rPr>
            </a:br>
            <a:r>
              <a:rPr lang="en-US" sz="2500">
                <a:latin typeface="Roboto Slab"/>
                <a:ea typeface="Roboto Slab"/>
                <a:cs typeface="Roboto Slab"/>
                <a:sym typeface="Roboto Slab"/>
              </a:rPr>
              <a:t>Creating Decision Tree with f</a:t>
            </a:r>
            <a:r>
              <a:rPr lang="en-US" sz="2500">
                <a:latin typeface="Roboto Slab"/>
                <a:ea typeface="Roboto Slab"/>
                <a:cs typeface="Roboto Slab"/>
                <a:sym typeface="Roboto Slab"/>
              </a:rPr>
              <a:t>ull raw feature set →</a:t>
            </a:r>
            <a:r>
              <a:rPr lang="en-US" sz="2500">
                <a:latin typeface="Roboto Slab"/>
                <a:ea typeface="Roboto Slab"/>
                <a:cs typeface="Roboto Slab"/>
                <a:sym typeface="Roboto Slab"/>
              </a:rPr>
              <a:t> Random Forest</a:t>
            </a:r>
            <a:endParaRPr sz="2500">
              <a:latin typeface="Roboto Slab"/>
              <a:ea typeface="Roboto Slab"/>
              <a:cs typeface="Roboto Slab"/>
              <a:sym typeface="Roboto Slab"/>
            </a:endParaRPr>
          </a:p>
          <a:p>
            <a:pPr indent="0" lvl="0" marL="0" rtl="0" algn="l">
              <a:spcBef>
                <a:spcPts val="1200"/>
              </a:spcBef>
              <a:spcAft>
                <a:spcPts val="1200"/>
              </a:spcAft>
              <a:buNone/>
            </a:pPr>
            <a:r>
              <a:t/>
            </a:r>
            <a:endParaRPr sz="3200">
              <a:latin typeface="Roboto Slab"/>
              <a:ea typeface="Roboto Slab"/>
              <a:cs typeface="Roboto Slab"/>
              <a:sym typeface="Roboto Slab"/>
            </a:endParaRPr>
          </a:p>
        </p:txBody>
      </p:sp>
      <p:sp>
        <p:nvSpPr>
          <p:cNvPr id="129" name="Google Shape;129;p5"/>
          <p:cNvSpPr/>
          <p:nvPr/>
        </p:nvSpPr>
        <p:spPr>
          <a:xfrm>
            <a:off x="457200" y="1645400"/>
            <a:ext cx="2699700" cy="1039500"/>
          </a:xfrm>
          <a:prstGeom prst="homePlate">
            <a:avLst>
              <a:gd fmla="val 50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0" name="Google Shape;130;p5"/>
          <p:cNvSpPr/>
          <p:nvPr/>
        </p:nvSpPr>
        <p:spPr>
          <a:xfrm>
            <a:off x="457200" y="3075300"/>
            <a:ext cx="2699700" cy="1039500"/>
          </a:xfrm>
          <a:prstGeom prst="homePlate">
            <a:avLst>
              <a:gd fmla="val 50000" name="adj"/>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sp>
        <p:nvSpPr>
          <p:cNvPr id="131" name="Google Shape;131;p5"/>
          <p:cNvSpPr txBox="1"/>
          <p:nvPr/>
        </p:nvSpPr>
        <p:spPr>
          <a:xfrm>
            <a:off x="457200" y="3242850"/>
            <a:ext cx="2983200" cy="70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40"/>
              </a:spcBef>
              <a:spcAft>
                <a:spcPts val="1200"/>
              </a:spcAft>
              <a:buNone/>
            </a:pPr>
            <a:r>
              <a:rPr b="1" i="1" lang="en-US" sz="3200">
                <a:solidFill>
                  <a:schemeClr val="dk1"/>
                </a:solidFill>
                <a:latin typeface="Roboto Slab"/>
                <a:ea typeface="Roboto Slab"/>
                <a:cs typeface="Roboto Slab"/>
                <a:sym typeface="Roboto Slab"/>
              </a:rPr>
              <a:t>Approach 2 </a:t>
            </a:r>
            <a:endParaRPr sz="1800">
              <a:solidFill>
                <a:schemeClr val="dk1"/>
              </a:solidFill>
              <a:latin typeface="Roboto"/>
              <a:ea typeface="Roboto"/>
              <a:cs typeface="Roboto"/>
              <a:sym typeface="Roboto"/>
            </a:endParaRPr>
          </a:p>
        </p:txBody>
      </p:sp>
      <p:sp>
        <p:nvSpPr>
          <p:cNvPr id="132" name="Google Shape;132;p5"/>
          <p:cNvSpPr txBox="1"/>
          <p:nvPr/>
        </p:nvSpPr>
        <p:spPr>
          <a:xfrm>
            <a:off x="457200" y="1812950"/>
            <a:ext cx="2983200" cy="704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640"/>
              </a:spcBef>
              <a:spcAft>
                <a:spcPts val="1200"/>
              </a:spcAft>
              <a:buNone/>
            </a:pPr>
            <a:r>
              <a:rPr b="1" i="1" lang="en-US" sz="3200">
                <a:solidFill>
                  <a:schemeClr val="dk1"/>
                </a:solidFill>
                <a:latin typeface="Roboto Slab"/>
                <a:ea typeface="Roboto Slab"/>
                <a:cs typeface="Roboto Slab"/>
                <a:sym typeface="Roboto Slab"/>
              </a:rPr>
              <a:t>Approach 1 </a:t>
            </a:r>
            <a:endParaRPr sz="1800">
              <a:solidFill>
                <a:schemeClr val="dk1"/>
              </a:solidFill>
              <a:latin typeface="Roboto"/>
              <a:ea typeface="Roboto"/>
              <a:cs typeface="Roboto"/>
              <a:sym typeface="Roboto"/>
            </a:endParaRPr>
          </a:p>
        </p:txBody>
      </p:sp>
      <p:pic>
        <p:nvPicPr>
          <p:cNvPr id="133" name="Google Shape;133;p5"/>
          <p:cNvPicPr preferRelativeResize="0"/>
          <p:nvPr/>
        </p:nvPicPr>
        <p:blipFill>
          <a:blip r:embed="rId3">
            <a:alphaModFix/>
          </a:blip>
          <a:stretch>
            <a:fillRect/>
          </a:stretch>
        </p:blipFill>
        <p:spPr>
          <a:xfrm>
            <a:off x="3200400" y="4114800"/>
            <a:ext cx="2743200" cy="27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g3aa8591508c_0_662"/>
          <p:cNvPicPr preferRelativeResize="0"/>
          <p:nvPr/>
        </p:nvPicPr>
        <p:blipFill>
          <a:blip r:embed="rId3">
            <a:alphaModFix/>
          </a:blip>
          <a:stretch>
            <a:fillRect/>
          </a:stretch>
        </p:blipFill>
        <p:spPr>
          <a:xfrm>
            <a:off x="3827100" y="467700"/>
            <a:ext cx="2638425" cy="1905000"/>
          </a:xfrm>
          <a:prstGeom prst="rect">
            <a:avLst/>
          </a:prstGeom>
          <a:noFill/>
          <a:ln>
            <a:noFill/>
          </a:ln>
        </p:spPr>
      </p:pic>
      <p:pic>
        <p:nvPicPr>
          <p:cNvPr id="139" name="Google Shape;139;g3aa8591508c_0_662"/>
          <p:cNvPicPr preferRelativeResize="0"/>
          <p:nvPr/>
        </p:nvPicPr>
        <p:blipFill>
          <a:blip r:embed="rId4">
            <a:alphaModFix/>
          </a:blip>
          <a:stretch>
            <a:fillRect/>
          </a:stretch>
        </p:blipFill>
        <p:spPr>
          <a:xfrm>
            <a:off x="6595950" y="467700"/>
            <a:ext cx="2466473" cy="1905000"/>
          </a:xfrm>
          <a:prstGeom prst="rect">
            <a:avLst/>
          </a:prstGeom>
          <a:noFill/>
          <a:ln>
            <a:noFill/>
          </a:ln>
        </p:spPr>
      </p:pic>
      <p:pic>
        <p:nvPicPr>
          <p:cNvPr id="140" name="Google Shape;140;g3aa8591508c_0_662"/>
          <p:cNvPicPr preferRelativeResize="0"/>
          <p:nvPr/>
        </p:nvPicPr>
        <p:blipFill>
          <a:blip r:embed="rId5">
            <a:alphaModFix/>
          </a:blip>
          <a:stretch>
            <a:fillRect/>
          </a:stretch>
        </p:blipFill>
        <p:spPr>
          <a:xfrm>
            <a:off x="4646400" y="2490050"/>
            <a:ext cx="3871525" cy="3980275"/>
          </a:xfrm>
          <a:prstGeom prst="rect">
            <a:avLst/>
          </a:prstGeom>
          <a:noFill/>
          <a:ln>
            <a:noFill/>
          </a:ln>
        </p:spPr>
      </p:pic>
      <p:sp>
        <p:nvSpPr>
          <p:cNvPr id="141" name="Google Shape;141;g3aa8591508c_0_662"/>
          <p:cNvSpPr txBox="1"/>
          <p:nvPr>
            <p:ph type="title"/>
          </p:nvPr>
        </p:nvSpPr>
        <p:spPr>
          <a:xfrm>
            <a:off x="387900" y="740800"/>
            <a:ext cx="3439200" cy="100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US"/>
              <a:t>Approach 1: D</a:t>
            </a:r>
            <a:r>
              <a:rPr lang="en-US"/>
              <a:t>ecision Tree Classification With Post Pruning </a:t>
            </a:r>
            <a:endParaRPr/>
          </a:p>
        </p:txBody>
      </p:sp>
      <p:sp>
        <p:nvSpPr>
          <p:cNvPr id="142" name="Google Shape;142;g3aa8591508c_0_662"/>
          <p:cNvSpPr txBox="1"/>
          <p:nvPr>
            <p:ph idx="1" type="body"/>
          </p:nvPr>
        </p:nvSpPr>
        <p:spPr>
          <a:xfrm>
            <a:off x="14550" y="2158725"/>
            <a:ext cx="4185900" cy="4505100"/>
          </a:xfrm>
          <a:prstGeom prst="rect">
            <a:avLst/>
          </a:prstGeom>
        </p:spPr>
        <p:txBody>
          <a:bodyPr anchorCtr="0" anchor="t" bIns="91425" lIns="91425" spcFirstLastPara="1" rIns="91425" wrap="square" tIns="91425">
            <a:normAutofit fontScale="62500" lnSpcReduction="20000"/>
          </a:bodyPr>
          <a:lstStyle/>
          <a:p>
            <a:pPr indent="-355600" lvl="0" marL="457200" rtl="0" algn="l">
              <a:lnSpc>
                <a:spcPct val="150000"/>
              </a:lnSpc>
              <a:spcBef>
                <a:spcPts val="1200"/>
              </a:spcBef>
              <a:spcAft>
                <a:spcPts val="0"/>
              </a:spcAft>
              <a:buSzPct val="100000"/>
              <a:buFont typeface="Roboto Slab Light"/>
              <a:buChar char="●"/>
            </a:pPr>
            <a:r>
              <a:rPr lang="en-US" sz="3200">
                <a:latin typeface="Roboto Slab Light"/>
                <a:ea typeface="Roboto Slab Light"/>
                <a:cs typeface="Roboto Slab Light"/>
                <a:sym typeface="Roboto Slab Light"/>
              </a:rPr>
              <a:t>Decision tree classification</a:t>
            </a:r>
            <a:endParaRPr sz="3200">
              <a:latin typeface="Roboto Slab Light"/>
              <a:ea typeface="Roboto Slab Light"/>
              <a:cs typeface="Roboto Slab Light"/>
              <a:sym typeface="Roboto Slab Light"/>
            </a:endParaRPr>
          </a:p>
          <a:p>
            <a:pPr indent="-355600" lvl="0" marL="457200" rtl="0" algn="l">
              <a:lnSpc>
                <a:spcPct val="150000"/>
              </a:lnSpc>
              <a:spcBef>
                <a:spcPts val="0"/>
              </a:spcBef>
              <a:spcAft>
                <a:spcPts val="0"/>
              </a:spcAft>
              <a:buSzPct val="100000"/>
              <a:buFont typeface="Roboto Slab Light"/>
              <a:buChar char="●"/>
            </a:pPr>
            <a:r>
              <a:rPr lang="en-US" sz="3200">
                <a:latin typeface="Roboto Slab Light"/>
                <a:ea typeface="Roboto Slab Light"/>
                <a:cs typeface="Roboto Slab Light"/>
                <a:sym typeface="Roboto Slab Light"/>
              </a:rPr>
              <a:t>Mutual Information feature selection - top 15 features</a:t>
            </a:r>
            <a:endParaRPr sz="3200">
              <a:latin typeface="Roboto Slab Light"/>
              <a:ea typeface="Roboto Slab Light"/>
              <a:cs typeface="Roboto Slab Light"/>
              <a:sym typeface="Roboto Slab Light"/>
            </a:endParaRPr>
          </a:p>
          <a:p>
            <a:pPr indent="-355600" lvl="0" marL="457200" rtl="0" algn="l">
              <a:lnSpc>
                <a:spcPct val="150000"/>
              </a:lnSpc>
              <a:spcBef>
                <a:spcPts val="0"/>
              </a:spcBef>
              <a:spcAft>
                <a:spcPts val="0"/>
              </a:spcAft>
              <a:buSzPct val="100000"/>
              <a:buFont typeface="Roboto Slab Light"/>
              <a:buChar char="●"/>
            </a:pPr>
            <a:r>
              <a:rPr lang="en-US" sz="3200">
                <a:latin typeface="Roboto Slab Light"/>
                <a:ea typeface="Roboto Slab Light"/>
                <a:cs typeface="Roboto Slab Light"/>
                <a:sym typeface="Roboto Slab Light"/>
              </a:rPr>
              <a:t>Post-pruning with 5-fold Cross-Validation to increase accuracy and sensitivity.</a:t>
            </a:r>
            <a:endParaRPr sz="3200">
              <a:latin typeface="Roboto Slab Light"/>
              <a:ea typeface="Roboto Slab Light"/>
              <a:cs typeface="Roboto Slab Light"/>
              <a:sym typeface="Roboto Slab Light"/>
            </a:endParaRPr>
          </a:p>
          <a:p>
            <a:pPr indent="-355600" lvl="0" marL="457200" rtl="0" algn="l">
              <a:lnSpc>
                <a:spcPct val="150000"/>
              </a:lnSpc>
              <a:spcBef>
                <a:spcPts val="0"/>
              </a:spcBef>
              <a:spcAft>
                <a:spcPts val="0"/>
              </a:spcAft>
              <a:buSzPct val="100000"/>
              <a:buFont typeface="Roboto Slab Light"/>
              <a:buChar char="●"/>
            </a:pPr>
            <a:r>
              <a:rPr lang="en-US" sz="3200">
                <a:latin typeface="Roboto Slab Light"/>
                <a:ea typeface="Roboto Slab Light"/>
                <a:cs typeface="Roboto Slab Light"/>
                <a:sym typeface="Roboto Slab Light"/>
              </a:rPr>
              <a:t>Accuracy</a:t>
            </a:r>
            <a:r>
              <a:rPr lang="en-US" sz="3200">
                <a:latin typeface="Roboto Slab Light"/>
                <a:ea typeface="Roboto Slab Light"/>
                <a:cs typeface="Roboto Slab Light"/>
                <a:sym typeface="Roboto Slab Light"/>
              </a:rPr>
              <a:t> increased from 76% to 88%</a:t>
            </a:r>
            <a:endParaRPr sz="3200">
              <a:latin typeface="Roboto Slab Light"/>
              <a:ea typeface="Roboto Slab Light"/>
              <a:cs typeface="Roboto Slab Light"/>
              <a:sym typeface="Roboto Slab Light"/>
            </a:endParaRPr>
          </a:p>
          <a:p>
            <a:pPr indent="-355600" lvl="0" marL="457200" rtl="0" algn="l">
              <a:lnSpc>
                <a:spcPct val="150000"/>
              </a:lnSpc>
              <a:spcBef>
                <a:spcPts val="0"/>
              </a:spcBef>
              <a:spcAft>
                <a:spcPts val="0"/>
              </a:spcAft>
              <a:buSzPct val="100000"/>
              <a:buFont typeface="Roboto Slab Light"/>
              <a:buChar char="●"/>
            </a:pPr>
            <a:r>
              <a:rPr lang="en-US" sz="3200">
                <a:latin typeface="Roboto Slab Light"/>
                <a:ea typeface="Roboto Slab Light"/>
                <a:cs typeface="Roboto Slab Light"/>
                <a:sym typeface="Roboto Slab Light"/>
              </a:rPr>
              <a:t>Recall for positive High-risk MI Patients is 0.31 (concerning)</a:t>
            </a:r>
            <a:endParaRPr sz="3200">
              <a:latin typeface="Roboto Slab Light"/>
              <a:ea typeface="Roboto Slab Light"/>
              <a:cs typeface="Roboto Slab Light"/>
              <a:sym typeface="Roboto Slab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g3aa8591508c_0_683"/>
          <p:cNvSpPr txBox="1"/>
          <p:nvPr>
            <p:ph idx="4294967295" type="title"/>
          </p:nvPr>
        </p:nvSpPr>
        <p:spPr>
          <a:xfrm>
            <a:off x="387900" y="740800"/>
            <a:ext cx="4309200" cy="9051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US"/>
              <a:t>Approach 1 (cont.) : </a:t>
            </a:r>
            <a:endParaRPr/>
          </a:p>
          <a:p>
            <a:pPr indent="0" lvl="0" marL="0" rtl="0" algn="l">
              <a:spcBef>
                <a:spcPts val="0"/>
              </a:spcBef>
              <a:spcAft>
                <a:spcPts val="0"/>
              </a:spcAft>
              <a:buNone/>
            </a:pPr>
            <a:r>
              <a:rPr lang="en-US" sz="2222"/>
              <a:t>DTC + SMOTE </a:t>
            </a:r>
            <a:endParaRPr sz="2222"/>
          </a:p>
        </p:txBody>
      </p:sp>
      <p:sp>
        <p:nvSpPr>
          <p:cNvPr id="148" name="Google Shape;148;g3aa8591508c_0_683"/>
          <p:cNvSpPr txBox="1"/>
          <p:nvPr>
            <p:ph idx="1" type="body"/>
          </p:nvPr>
        </p:nvSpPr>
        <p:spPr>
          <a:xfrm>
            <a:off x="3910800" y="1245375"/>
            <a:ext cx="5233200" cy="5220000"/>
          </a:xfrm>
          <a:prstGeom prst="rect">
            <a:avLst/>
          </a:prstGeom>
        </p:spPr>
        <p:txBody>
          <a:bodyPr anchorCtr="0" anchor="ctr" bIns="91425" lIns="91425" spcFirstLastPara="1" rIns="91425" wrap="square" tIns="91425">
            <a:noAutofit/>
          </a:bodyPr>
          <a:lstStyle/>
          <a:p>
            <a:pPr indent="0" lvl="0" marL="0" rtl="0" algn="l">
              <a:lnSpc>
                <a:spcPct val="150000"/>
              </a:lnSpc>
              <a:spcBef>
                <a:spcPts val="1200"/>
              </a:spcBef>
              <a:spcAft>
                <a:spcPts val="0"/>
              </a:spcAft>
              <a:buNone/>
            </a:pPr>
            <a:r>
              <a:rPr lang="en-US" sz="2000">
                <a:latin typeface="Roboto Slab Light"/>
                <a:ea typeface="Roboto Slab Light"/>
                <a:cs typeface="Roboto Slab Light"/>
                <a:sym typeface="Roboto Slab Light"/>
              </a:rPr>
              <a:t>Implementing SMOTE to oversample minority class to resolve </a:t>
            </a:r>
            <a:r>
              <a:rPr lang="en-US" sz="2000">
                <a:latin typeface="Roboto Slab Light"/>
                <a:ea typeface="Roboto Slab Light"/>
                <a:cs typeface="Roboto Slab Light"/>
                <a:sym typeface="Roboto Slab Light"/>
              </a:rPr>
              <a:t>imbalance:</a:t>
            </a:r>
            <a:endParaRPr sz="2000">
              <a:latin typeface="Roboto Slab Light"/>
              <a:ea typeface="Roboto Slab Light"/>
              <a:cs typeface="Roboto Slab Light"/>
              <a:sym typeface="Roboto Slab Light"/>
            </a:endParaRPr>
          </a:p>
          <a:p>
            <a:pPr indent="0" lvl="0" marL="0" rtl="0" algn="l">
              <a:lnSpc>
                <a:spcPct val="150000"/>
              </a:lnSpc>
              <a:spcBef>
                <a:spcPts val="1200"/>
              </a:spcBef>
              <a:spcAft>
                <a:spcPts val="0"/>
              </a:spcAft>
              <a:buNone/>
            </a:pPr>
            <a:r>
              <a:rPr lang="en-US" sz="2000">
                <a:latin typeface="Roboto Slab Light"/>
                <a:ea typeface="Roboto Slab Light"/>
                <a:cs typeface="Roboto Slab Light"/>
                <a:sym typeface="Roboto Slab Light"/>
              </a:rPr>
              <a:t>Changes:</a:t>
            </a:r>
            <a:endParaRPr sz="2000">
              <a:latin typeface="Roboto Slab Light"/>
              <a:ea typeface="Roboto Slab Light"/>
              <a:cs typeface="Roboto Slab Light"/>
              <a:sym typeface="Roboto Slab Light"/>
            </a:endParaRPr>
          </a:p>
          <a:p>
            <a:pPr indent="-355600" lvl="0" marL="457200" rtl="0" algn="l">
              <a:lnSpc>
                <a:spcPct val="150000"/>
              </a:lnSpc>
              <a:spcBef>
                <a:spcPts val="1200"/>
              </a:spcBef>
              <a:spcAft>
                <a:spcPts val="0"/>
              </a:spcAft>
              <a:buSzPts val="2000"/>
              <a:buFont typeface="Roboto Slab Light"/>
              <a:buChar char="●"/>
            </a:pPr>
            <a:r>
              <a:rPr lang="en-US" sz="2000">
                <a:latin typeface="Roboto Slab Light"/>
                <a:ea typeface="Roboto Slab Light"/>
                <a:cs typeface="Roboto Slab Light"/>
                <a:sym typeface="Roboto Slab Light"/>
              </a:rPr>
              <a:t>Overall accuracy remains similar (89% vs. 88.82%).</a:t>
            </a:r>
            <a:endParaRPr sz="2000">
              <a:latin typeface="Roboto Slab Light"/>
              <a:ea typeface="Roboto Slab Light"/>
              <a:cs typeface="Roboto Slab Light"/>
              <a:sym typeface="Roboto Slab Light"/>
            </a:endParaRPr>
          </a:p>
          <a:p>
            <a:pPr indent="-355600" lvl="0" marL="457200" rtl="0" algn="l">
              <a:lnSpc>
                <a:spcPct val="150000"/>
              </a:lnSpc>
              <a:spcBef>
                <a:spcPts val="0"/>
              </a:spcBef>
              <a:spcAft>
                <a:spcPts val="0"/>
              </a:spcAft>
              <a:buSzPts val="2000"/>
              <a:buFont typeface="Calibri"/>
              <a:buChar char="●"/>
            </a:pPr>
            <a:r>
              <a:rPr lang="en-US" sz="2000">
                <a:latin typeface="Roboto Slab Light"/>
                <a:ea typeface="Roboto Slab Light"/>
                <a:cs typeface="Roboto Slab Light"/>
                <a:sym typeface="Roboto Slab Light"/>
              </a:rPr>
              <a:t>The recall improves from 0.31 to 0.43. </a:t>
            </a:r>
            <a:endParaRPr sz="2000">
              <a:latin typeface="Roboto Slab Light"/>
              <a:ea typeface="Roboto Slab Light"/>
              <a:cs typeface="Roboto Slab Light"/>
              <a:sym typeface="Roboto Slab Light"/>
            </a:endParaRPr>
          </a:p>
          <a:p>
            <a:pPr indent="-355600" lvl="0" marL="457200" rtl="0" algn="l">
              <a:lnSpc>
                <a:spcPct val="150000"/>
              </a:lnSpc>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Precision decreases from 0.94 to 0.77.</a:t>
            </a:r>
            <a:endParaRPr sz="2000">
              <a:latin typeface="Roboto Slab Light"/>
              <a:ea typeface="Roboto Slab Light"/>
              <a:cs typeface="Roboto Slab Light"/>
              <a:sym typeface="Roboto Slab Light"/>
            </a:endParaRPr>
          </a:p>
          <a:p>
            <a:pPr indent="-355600" lvl="0" marL="457200" rtl="0" algn="l">
              <a:lnSpc>
                <a:spcPct val="150000"/>
              </a:lnSpc>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Performance decreases as precision is now at 0.90 </a:t>
            </a:r>
            <a:endParaRPr sz="2000">
              <a:latin typeface="Roboto Slab Light"/>
              <a:ea typeface="Roboto Slab Light"/>
              <a:cs typeface="Roboto Slab Light"/>
              <a:sym typeface="Roboto Slab Light"/>
            </a:endParaRPr>
          </a:p>
          <a:p>
            <a:pPr indent="-355600" lvl="0" marL="457200" rtl="0" algn="l">
              <a:lnSpc>
                <a:spcPct val="150000"/>
              </a:lnSpc>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Recall decreased to 0.98. </a:t>
            </a:r>
            <a:endParaRPr sz="2000">
              <a:latin typeface="Roboto Slab Light"/>
              <a:ea typeface="Roboto Slab Light"/>
              <a:cs typeface="Roboto Slab Light"/>
              <a:sym typeface="Roboto Slab Light"/>
            </a:endParaRPr>
          </a:p>
        </p:txBody>
      </p:sp>
      <p:pic>
        <p:nvPicPr>
          <p:cNvPr id="149" name="Google Shape;149;g3aa8591508c_0_683"/>
          <p:cNvPicPr preferRelativeResize="0"/>
          <p:nvPr/>
        </p:nvPicPr>
        <p:blipFill rotWithShape="1">
          <a:blip r:embed="rId3">
            <a:alphaModFix/>
          </a:blip>
          <a:srcRect b="0" l="5369" r="11889" t="0"/>
          <a:stretch/>
        </p:blipFill>
        <p:spPr>
          <a:xfrm>
            <a:off x="102150" y="1706963"/>
            <a:ext cx="3444925" cy="2996850"/>
          </a:xfrm>
          <a:prstGeom prst="rect">
            <a:avLst/>
          </a:prstGeom>
          <a:noFill/>
          <a:ln>
            <a:noFill/>
          </a:ln>
        </p:spPr>
      </p:pic>
      <p:pic>
        <p:nvPicPr>
          <p:cNvPr id="150" name="Google Shape;150;g3aa8591508c_0_683"/>
          <p:cNvPicPr preferRelativeResize="0"/>
          <p:nvPr/>
        </p:nvPicPr>
        <p:blipFill>
          <a:blip r:embed="rId4">
            <a:alphaModFix/>
          </a:blip>
          <a:stretch>
            <a:fillRect/>
          </a:stretch>
        </p:blipFill>
        <p:spPr>
          <a:xfrm>
            <a:off x="102150" y="4764885"/>
            <a:ext cx="3684450" cy="135676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g3aacd49ec51_0_42"/>
          <p:cNvSpPr txBox="1"/>
          <p:nvPr>
            <p:ph idx="1" type="body"/>
          </p:nvPr>
        </p:nvSpPr>
        <p:spPr>
          <a:xfrm>
            <a:off x="387900" y="1986425"/>
            <a:ext cx="7997100" cy="41052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No Feature Selection</a:t>
            </a:r>
            <a:endParaRPr sz="2000">
              <a:latin typeface="Roboto Slab Light"/>
              <a:ea typeface="Roboto Slab Light"/>
              <a:cs typeface="Roboto Slab Light"/>
              <a:sym typeface="Roboto Slab Light"/>
            </a:endParaRPr>
          </a:p>
          <a:p>
            <a:pPr indent="-355600" lvl="0" marL="4572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Decision Tree as Baseline</a:t>
            </a:r>
            <a:endParaRPr sz="2000">
              <a:latin typeface="Roboto Slab Light"/>
              <a:ea typeface="Roboto Slab Light"/>
              <a:cs typeface="Roboto Slab Light"/>
              <a:sym typeface="Roboto Slab Light"/>
            </a:endParaRPr>
          </a:p>
          <a:p>
            <a:pPr indent="-355600" lvl="0" marL="457200" rtl="0" algn="l">
              <a:spcBef>
                <a:spcPts val="0"/>
              </a:spcBef>
              <a:spcAft>
                <a:spcPts val="0"/>
              </a:spcAft>
              <a:buSzPts val="2000"/>
              <a:buFont typeface="Roboto Slab"/>
              <a:buChar char="●"/>
            </a:pPr>
            <a:r>
              <a:rPr b="1" lang="en-US" sz="2000">
                <a:latin typeface="Roboto Slab"/>
                <a:ea typeface="Roboto Slab"/>
                <a:cs typeface="Roboto Slab"/>
                <a:sym typeface="Roboto Slab"/>
              </a:rPr>
              <a:t>Random Forest: </a:t>
            </a:r>
            <a:endParaRPr b="1" sz="2000">
              <a:latin typeface="Roboto Slab"/>
              <a:ea typeface="Roboto Slab"/>
              <a:cs typeface="Roboto Slab"/>
              <a:sym typeface="Roboto Slab"/>
            </a:endParaRPr>
          </a:p>
          <a:p>
            <a:pPr indent="-355600" lvl="1" marL="9144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300 Trees,</a:t>
            </a:r>
            <a:endParaRPr sz="2000">
              <a:latin typeface="Roboto Slab Light"/>
              <a:ea typeface="Roboto Slab Light"/>
              <a:cs typeface="Roboto Slab Light"/>
              <a:sym typeface="Roboto Slab Light"/>
            </a:endParaRPr>
          </a:p>
          <a:p>
            <a:pPr indent="-355600" lvl="1" marL="9144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 min_samples_leaf = 5, </a:t>
            </a:r>
            <a:endParaRPr sz="2000">
              <a:latin typeface="Roboto Slab Light"/>
              <a:ea typeface="Roboto Slab Light"/>
              <a:cs typeface="Roboto Slab Light"/>
              <a:sym typeface="Roboto Slab Light"/>
            </a:endParaRPr>
          </a:p>
          <a:p>
            <a:pPr indent="-355600" lvl="1" marL="9144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class_weight = ‘balanced’, </a:t>
            </a:r>
            <a:endParaRPr sz="2000">
              <a:latin typeface="Roboto Slab Light"/>
              <a:ea typeface="Roboto Slab Light"/>
              <a:cs typeface="Roboto Slab Light"/>
              <a:sym typeface="Roboto Slab Light"/>
            </a:endParaRPr>
          </a:p>
          <a:p>
            <a:pPr indent="-355600" lvl="1" marL="9144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Handles Nonlinear Interactions, </a:t>
            </a:r>
            <a:endParaRPr sz="2000">
              <a:latin typeface="Roboto Slab Light"/>
              <a:ea typeface="Roboto Slab Light"/>
              <a:cs typeface="Roboto Slab Light"/>
              <a:sym typeface="Roboto Slab Light"/>
            </a:endParaRPr>
          </a:p>
          <a:p>
            <a:pPr indent="-355600" lvl="1" marL="914400" rtl="0" algn="l">
              <a:spcBef>
                <a:spcPts val="0"/>
              </a:spcBef>
              <a:spcAft>
                <a:spcPts val="0"/>
              </a:spcAft>
              <a:buSzPts val="2000"/>
              <a:buFont typeface="Roboto Slab Light"/>
              <a:buChar char="○"/>
            </a:pPr>
            <a:r>
              <a:rPr lang="en-US" sz="2000">
                <a:latin typeface="Roboto Slab Light"/>
                <a:ea typeface="Roboto Slab Light"/>
                <a:cs typeface="Roboto Slab Light"/>
                <a:sym typeface="Roboto Slab Light"/>
              </a:rPr>
              <a:t>Natural feature selections </a:t>
            </a:r>
            <a:r>
              <a:rPr lang="en-US" sz="2000">
                <a:latin typeface="Roboto Slab Light"/>
                <a:ea typeface="Roboto Slab Light"/>
                <a:cs typeface="Roboto Slab Light"/>
                <a:sym typeface="Roboto Slab Light"/>
              </a:rPr>
              <a:t>using tree splits</a:t>
            </a:r>
            <a:br>
              <a:rPr lang="en-US" sz="2000">
                <a:latin typeface="Roboto Slab Light"/>
                <a:ea typeface="Roboto Slab Light"/>
                <a:cs typeface="Roboto Slab Light"/>
                <a:sym typeface="Roboto Slab Light"/>
              </a:rPr>
            </a:br>
            <a:endParaRPr sz="2000">
              <a:latin typeface="Roboto Slab Light"/>
              <a:ea typeface="Roboto Slab Light"/>
              <a:cs typeface="Roboto Slab Light"/>
              <a:sym typeface="Roboto Slab Light"/>
            </a:endParaRPr>
          </a:p>
          <a:p>
            <a:pPr indent="-355600" lvl="0" marL="457200" rtl="0" algn="l">
              <a:spcBef>
                <a:spcPts val="0"/>
              </a:spcBef>
              <a:spcAft>
                <a:spcPts val="0"/>
              </a:spcAft>
              <a:buSzPts val="2000"/>
              <a:buFont typeface="Roboto Slab Light"/>
              <a:buChar char="●"/>
            </a:pPr>
            <a:r>
              <a:rPr i="1" lang="en-US" sz="2000">
                <a:latin typeface="Roboto Slab Light"/>
                <a:ea typeface="Roboto Slab Light"/>
                <a:cs typeface="Roboto Slab Light"/>
                <a:sym typeface="Roboto Slab Light"/>
              </a:rPr>
              <a:t>Random forest performs well on high dimensional medical data and can handle imbalance via class_weight. </a:t>
            </a:r>
            <a:endParaRPr i="1" sz="2000">
              <a:latin typeface="Roboto Slab Light"/>
              <a:ea typeface="Roboto Slab Light"/>
              <a:cs typeface="Roboto Slab Light"/>
              <a:sym typeface="Roboto Slab Light"/>
            </a:endParaRPr>
          </a:p>
        </p:txBody>
      </p:sp>
      <p:sp>
        <p:nvSpPr>
          <p:cNvPr id="156" name="Google Shape;156;g3aacd49ec51_0_42"/>
          <p:cNvSpPr txBox="1"/>
          <p:nvPr>
            <p:ph type="title"/>
          </p:nvPr>
        </p:nvSpPr>
        <p:spPr>
          <a:xfrm>
            <a:off x="387900" y="598932"/>
            <a:ext cx="5291100" cy="10629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US"/>
              <a:t>Approach 2: Decision Tree + Random Forest Classification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g3aacd49ec51_0_48"/>
          <p:cNvSpPr txBox="1"/>
          <p:nvPr>
            <p:ph type="title"/>
          </p:nvPr>
        </p:nvSpPr>
        <p:spPr>
          <a:xfrm>
            <a:off x="387900" y="610700"/>
            <a:ext cx="8368200" cy="914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US"/>
              <a:t>Approach</a:t>
            </a:r>
            <a:r>
              <a:rPr lang="en-US"/>
              <a:t> 2 : Results</a:t>
            </a:r>
            <a:endParaRPr/>
          </a:p>
        </p:txBody>
      </p:sp>
      <p:sp>
        <p:nvSpPr>
          <p:cNvPr id="162" name="Google Shape;162;g3aacd49ec51_0_48"/>
          <p:cNvSpPr txBox="1"/>
          <p:nvPr>
            <p:ph idx="1" type="body"/>
          </p:nvPr>
        </p:nvSpPr>
        <p:spPr>
          <a:xfrm>
            <a:off x="387900" y="1986425"/>
            <a:ext cx="3787200" cy="4105200"/>
          </a:xfrm>
          <a:prstGeom prst="rect">
            <a:avLst/>
          </a:prstGeom>
        </p:spPr>
        <p:txBody>
          <a:bodyPr anchorCtr="0" anchor="t" bIns="91425" lIns="91425" spcFirstLastPara="1" rIns="91425" wrap="square" tIns="91425">
            <a:normAutofit fontScale="77500" lnSpcReduction="10000"/>
          </a:bodyPr>
          <a:lstStyle/>
          <a:p>
            <a:pPr indent="-327025" lvl="0" marL="457200" rtl="0" algn="l">
              <a:lnSpc>
                <a:spcPct val="150000"/>
              </a:lnSpc>
              <a:spcBef>
                <a:spcPts val="0"/>
              </a:spcBef>
              <a:spcAft>
                <a:spcPts val="0"/>
              </a:spcAft>
              <a:buSzPct val="100000"/>
              <a:buFont typeface="Roboto Slab Light"/>
              <a:buChar char="●"/>
            </a:pPr>
            <a:r>
              <a:rPr lang="en-US" sz="2000">
                <a:latin typeface="Roboto Slab Light"/>
                <a:ea typeface="Roboto Slab Light"/>
                <a:cs typeface="Roboto Slab Light"/>
                <a:sym typeface="Roboto Slab Light"/>
              </a:rPr>
              <a:t>Overall Accuracy: 90%</a:t>
            </a:r>
            <a:endParaRPr sz="2000">
              <a:latin typeface="Roboto Slab Light"/>
              <a:ea typeface="Roboto Slab Light"/>
              <a:cs typeface="Roboto Slab Light"/>
              <a:sym typeface="Roboto Slab Light"/>
            </a:endParaRPr>
          </a:p>
          <a:p>
            <a:pPr indent="-327025" lvl="0" marL="457200" rtl="0" algn="l">
              <a:lnSpc>
                <a:spcPct val="150000"/>
              </a:lnSpc>
              <a:spcBef>
                <a:spcPts val="0"/>
              </a:spcBef>
              <a:spcAft>
                <a:spcPts val="0"/>
              </a:spcAft>
              <a:buSzPct val="100000"/>
              <a:buFont typeface="Roboto Slab Light"/>
              <a:buChar char="●"/>
            </a:pPr>
            <a:r>
              <a:rPr lang="en-US" sz="2000">
                <a:latin typeface="Roboto Slab Light"/>
                <a:ea typeface="Roboto Slab Light"/>
                <a:cs typeface="Roboto Slab Light"/>
                <a:sym typeface="Roboto Slab Light"/>
              </a:rPr>
              <a:t>Precision (Class 1): 74% of predicted high-risk patients were true high-risk</a:t>
            </a:r>
            <a:endParaRPr sz="2000">
              <a:latin typeface="Roboto Slab Light"/>
              <a:ea typeface="Roboto Slab Light"/>
              <a:cs typeface="Roboto Slab Light"/>
              <a:sym typeface="Roboto Slab Light"/>
            </a:endParaRPr>
          </a:p>
          <a:p>
            <a:pPr indent="-327025" lvl="0" marL="457200" rtl="0" algn="l">
              <a:lnSpc>
                <a:spcPct val="150000"/>
              </a:lnSpc>
              <a:spcBef>
                <a:spcPts val="0"/>
              </a:spcBef>
              <a:spcAft>
                <a:spcPts val="0"/>
              </a:spcAft>
              <a:buSzPct val="100000"/>
              <a:buFont typeface="Roboto Slab Light"/>
              <a:buChar char="●"/>
            </a:pPr>
            <a:r>
              <a:rPr lang="en-US" sz="2000">
                <a:latin typeface="Roboto Slab Light"/>
                <a:ea typeface="Roboto Slab Light"/>
                <a:cs typeface="Roboto Slab Light"/>
                <a:sym typeface="Roboto Slab Light"/>
              </a:rPr>
              <a:t>Recall (Class 1): captured 57% of true Major Complication cases</a:t>
            </a:r>
            <a:endParaRPr sz="2000">
              <a:latin typeface="Roboto Slab Light"/>
              <a:ea typeface="Roboto Slab Light"/>
              <a:cs typeface="Roboto Slab Light"/>
              <a:sym typeface="Roboto Slab Light"/>
            </a:endParaRPr>
          </a:p>
          <a:p>
            <a:pPr indent="-327025" lvl="0" marL="457200" rtl="0" algn="l">
              <a:lnSpc>
                <a:spcPct val="150000"/>
              </a:lnSpc>
              <a:spcBef>
                <a:spcPts val="0"/>
              </a:spcBef>
              <a:spcAft>
                <a:spcPts val="0"/>
              </a:spcAft>
              <a:buSzPct val="100000"/>
              <a:buFont typeface="Roboto Slab Light"/>
              <a:buChar char="●"/>
            </a:pPr>
            <a:r>
              <a:rPr lang="en-US" sz="2000">
                <a:latin typeface="Roboto Slab Light"/>
                <a:ea typeface="Roboto Slab Light"/>
                <a:cs typeface="Roboto Slab Light"/>
                <a:sym typeface="Roboto Slab Light"/>
              </a:rPr>
              <a:t>Best balance between catching true complications &amp; limiting false alarms</a:t>
            </a:r>
            <a:endParaRPr sz="2000">
              <a:latin typeface="Roboto Slab Light"/>
              <a:ea typeface="Roboto Slab Light"/>
              <a:cs typeface="Roboto Slab Light"/>
              <a:sym typeface="Roboto Slab Light"/>
            </a:endParaRPr>
          </a:p>
          <a:p>
            <a:pPr indent="-327025" lvl="0" marL="457200" rtl="0" algn="l">
              <a:lnSpc>
                <a:spcPct val="150000"/>
              </a:lnSpc>
              <a:spcBef>
                <a:spcPts val="0"/>
              </a:spcBef>
              <a:spcAft>
                <a:spcPts val="0"/>
              </a:spcAft>
              <a:buSzPct val="100000"/>
              <a:buFont typeface="Roboto Slab Light"/>
              <a:buChar char="●"/>
            </a:pPr>
            <a:r>
              <a:rPr lang="en-US" sz="2000">
                <a:latin typeface="Roboto Slab Light"/>
                <a:ea typeface="Roboto Slab Light"/>
                <a:cs typeface="Roboto Slab Light"/>
                <a:sym typeface="Roboto Slab Light"/>
              </a:rPr>
              <a:t>Captured the highest % of high-risk patients among all models</a:t>
            </a:r>
            <a:endParaRPr sz="2000">
              <a:latin typeface="Roboto Slab Light"/>
              <a:ea typeface="Roboto Slab Light"/>
              <a:cs typeface="Roboto Slab Light"/>
              <a:sym typeface="Roboto Slab Light"/>
            </a:endParaRPr>
          </a:p>
        </p:txBody>
      </p:sp>
      <p:pic>
        <p:nvPicPr>
          <p:cNvPr id="163" name="Google Shape;163;g3aacd49ec51_0_48"/>
          <p:cNvPicPr preferRelativeResize="0"/>
          <p:nvPr/>
        </p:nvPicPr>
        <p:blipFill>
          <a:blip r:embed="rId3">
            <a:alphaModFix/>
          </a:blip>
          <a:stretch>
            <a:fillRect/>
          </a:stretch>
        </p:blipFill>
        <p:spPr>
          <a:xfrm>
            <a:off x="4725425" y="610700"/>
            <a:ext cx="4030675" cy="3180525"/>
          </a:xfrm>
          <a:prstGeom prst="rect">
            <a:avLst/>
          </a:prstGeom>
          <a:noFill/>
          <a:ln>
            <a:noFill/>
          </a:ln>
        </p:spPr>
      </p:pic>
      <p:pic>
        <p:nvPicPr>
          <p:cNvPr id="164" name="Google Shape;164;g3aacd49ec51_0_48"/>
          <p:cNvPicPr preferRelativeResize="0"/>
          <p:nvPr/>
        </p:nvPicPr>
        <p:blipFill>
          <a:blip r:embed="rId4">
            <a:alphaModFix/>
          </a:blip>
          <a:stretch>
            <a:fillRect/>
          </a:stretch>
        </p:blipFill>
        <p:spPr>
          <a:xfrm>
            <a:off x="4327500" y="3943625"/>
            <a:ext cx="4495800" cy="19335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aacd49ec51_0_55"/>
          <p:cNvSpPr txBox="1"/>
          <p:nvPr>
            <p:ph type="title"/>
          </p:nvPr>
        </p:nvSpPr>
        <p:spPr>
          <a:xfrm>
            <a:off x="387900" y="740800"/>
            <a:ext cx="2808000" cy="1007700"/>
          </a:xfrm>
          <a:prstGeom prst="rect">
            <a:avLst/>
          </a:prstGeom>
        </p:spPr>
        <p:txBody>
          <a:bodyPr anchorCtr="0" anchor="b" bIns="91425" lIns="91425" spcFirstLastPara="1" rIns="91425" wrap="square" tIns="91425">
            <a:normAutofit fontScale="90000"/>
          </a:bodyPr>
          <a:lstStyle/>
          <a:p>
            <a:pPr indent="0" lvl="0" marL="0" rtl="0" algn="l">
              <a:spcBef>
                <a:spcPts val="0"/>
              </a:spcBef>
              <a:spcAft>
                <a:spcPts val="0"/>
              </a:spcAft>
              <a:buNone/>
            </a:pPr>
            <a:r>
              <a:rPr lang="en-US"/>
              <a:t>Top Predictors Identified by the Model</a:t>
            </a:r>
            <a:endParaRPr/>
          </a:p>
        </p:txBody>
      </p:sp>
      <p:sp>
        <p:nvSpPr>
          <p:cNvPr id="170" name="Google Shape;170;g3aacd49ec51_0_55"/>
          <p:cNvSpPr txBox="1"/>
          <p:nvPr>
            <p:ph idx="1" type="body"/>
          </p:nvPr>
        </p:nvSpPr>
        <p:spPr>
          <a:xfrm>
            <a:off x="124500" y="2173000"/>
            <a:ext cx="3598200" cy="3375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US" sz="2000"/>
              <a:t>Age</a:t>
            </a:r>
            <a:endParaRPr sz="2000"/>
          </a:p>
          <a:p>
            <a:pPr indent="-355600" lvl="0" marL="457200" rtl="0" algn="l">
              <a:spcBef>
                <a:spcPts val="0"/>
              </a:spcBef>
              <a:spcAft>
                <a:spcPts val="0"/>
              </a:spcAft>
              <a:buSzPts val="2000"/>
              <a:buChar char="●"/>
            </a:pPr>
            <a:r>
              <a:rPr lang="en-US" sz="2000"/>
              <a:t>ICU systolic/diastolic BP</a:t>
            </a:r>
            <a:endParaRPr sz="2000"/>
          </a:p>
          <a:p>
            <a:pPr indent="-355600" lvl="0" marL="457200" rtl="0" algn="l">
              <a:spcBef>
                <a:spcPts val="0"/>
              </a:spcBef>
              <a:spcAft>
                <a:spcPts val="0"/>
              </a:spcAft>
              <a:buSzPts val="2000"/>
              <a:buChar char="●"/>
            </a:pPr>
            <a:r>
              <a:rPr lang="en-US" sz="2000"/>
              <a:t>Cardiogenic shock</a:t>
            </a:r>
            <a:endParaRPr sz="2000"/>
          </a:p>
          <a:p>
            <a:pPr indent="-355600" lvl="0" marL="457200" rtl="0" algn="l">
              <a:spcBef>
                <a:spcPts val="0"/>
              </a:spcBef>
              <a:spcAft>
                <a:spcPts val="0"/>
              </a:spcAft>
              <a:buSzPts val="2000"/>
              <a:buChar char="●"/>
            </a:pPr>
            <a:r>
              <a:rPr lang="en-US" sz="2000"/>
              <a:t>Myocardial rupture</a:t>
            </a:r>
            <a:endParaRPr sz="2000"/>
          </a:p>
          <a:p>
            <a:pPr indent="-355600" lvl="0" marL="457200" rtl="0" algn="l">
              <a:spcBef>
                <a:spcPts val="0"/>
              </a:spcBef>
              <a:spcAft>
                <a:spcPts val="0"/>
              </a:spcAft>
              <a:buSzPts val="2000"/>
              <a:buChar char="●"/>
            </a:pPr>
            <a:r>
              <a:rPr lang="en-US" sz="2000"/>
              <a:t>Time from pain onset to hospital</a:t>
            </a:r>
            <a:endParaRPr sz="2000"/>
          </a:p>
          <a:p>
            <a:pPr indent="-355600" lvl="0" marL="457200" rtl="0" algn="l">
              <a:spcBef>
                <a:spcPts val="0"/>
              </a:spcBef>
              <a:spcAft>
                <a:spcPts val="0"/>
              </a:spcAft>
              <a:buSzPts val="2000"/>
              <a:buChar char="●"/>
            </a:pPr>
            <a:r>
              <a:rPr lang="en-US" sz="2000"/>
              <a:t>ECG rhythm &amp; anterior MI</a:t>
            </a:r>
            <a:endParaRPr sz="2000"/>
          </a:p>
          <a:p>
            <a:pPr indent="-355600" lvl="0" marL="457200" rtl="0" algn="l">
              <a:spcBef>
                <a:spcPts val="0"/>
              </a:spcBef>
              <a:spcAft>
                <a:spcPts val="0"/>
              </a:spcAft>
              <a:buSzPts val="2000"/>
              <a:buChar char="●"/>
            </a:pPr>
            <a:r>
              <a:rPr lang="en-US" sz="2000"/>
              <a:t>Hemoglobin &amp; ESR</a:t>
            </a:r>
            <a:endParaRPr sz="2000"/>
          </a:p>
        </p:txBody>
      </p:sp>
      <p:pic>
        <p:nvPicPr>
          <p:cNvPr id="171" name="Google Shape;171;g3aacd49ec51_0_55"/>
          <p:cNvPicPr preferRelativeResize="0"/>
          <p:nvPr/>
        </p:nvPicPr>
        <p:blipFill>
          <a:blip r:embed="rId3">
            <a:alphaModFix/>
          </a:blip>
          <a:stretch>
            <a:fillRect/>
          </a:stretch>
        </p:blipFill>
        <p:spPr>
          <a:xfrm>
            <a:off x="3722700" y="1748500"/>
            <a:ext cx="5116499" cy="3800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g3aa8591508c_0_675"/>
          <p:cNvSpPr txBox="1"/>
          <p:nvPr>
            <p:ph type="title"/>
          </p:nvPr>
        </p:nvSpPr>
        <p:spPr>
          <a:xfrm>
            <a:off x="387900" y="610700"/>
            <a:ext cx="8368200" cy="914700"/>
          </a:xfrm>
          <a:prstGeom prst="rect">
            <a:avLst/>
          </a:prstGeom>
        </p:spPr>
        <p:txBody>
          <a:bodyPr anchorCtr="0" anchor="b" bIns="91425" lIns="91425" spcFirstLastPara="1" rIns="91425" wrap="square" tIns="91425">
            <a:normAutofit/>
          </a:bodyPr>
          <a:lstStyle/>
          <a:p>
            <a:pPr indent="0" lvl="0" marL="0" rtl="0" algn="l">
              <a:spcBef>
                <a:spcPts val="0"/>
              </a:spcBef>
              <a:spcAft>
                <a:spcPts val="0"/>
              </a:spcAft>
              <a:buNone/>
            </a:pPr>
            <a:r>
              <a:rPr lang="en-US" sz="3900"/>
              <a:t>Conclusion</a:t>
            </a:r>
            <a:endParaRPr sz="3900"/>
          </a:p>
        </p:txBody>
      </p:sp>
      <p:sp>
        <p:nvSpPr>
          <p:cNvPr id="177" name="Google Shape;177;g3aa8591508c_0_675"/>
          <p:cNvSpPr txBox="1"/>
          <p:nvPr>
            <p:ph idx="1" type="body"/>
          </p:nvPr>
        </p:nvSpPr>
        <p:spPr>
          <a:xfrm>
            <a:off x="387900" y="1986432"/>
            <a:ext cx="8368200" cy="4105200"/>
          </a:xfrm>
          <a:prstGeom prst="rect">
            <a:avLst/>
          </a:prstGeom>
        </p:spPr>
        <p:txBody>
          <a:bodyPr anchorCtr="0" anchor="ctr" bIns="91425" lIns="91425" spcFirstLastPara="1" rIns="91425" wrap="square" tIns="91425">
            <a:normAutofit/>
          </a:bodyPr>
          <a:lstStyle/>
          <a:p>
            <a:pPr indent="-311150" lvl="0" marL="342900" rtl="0" algn="l">
              <a:lnSpc>
                <a:spcPct val="105000"/>
              </a:lnSpc>
              <a:spcBef>
                <a:spcPts val="640"/>
              </a:spcBef>
              <a:spcAft>
                <a:spcPts val="0"/>
              </a:spcAft>
              <a:buSzPts val="2700"/>
              <a:buFont typeface="Roboto Slab Light"/>
              <a:buChar char="●"/>
            </a:pPr>
            <a:r>
              <a:rPr b="1" lang="en-US" sz="2700">
                <a:latin typeface="Roboto Slab"/>
                <a:ea typeface="Roboto Slab"/>
                <a:cs typeface="Roboto Slab"/>
                <a:sym typeface="Roboto Slab"/>
              </a:rPr>
              <a:t>SMOTE </a:t>
            </a:r>
            <a:r>
              <a:rPr lang="en-US" sz="2700">
                <a:latin typeface="Roboto Slab Light"/>
                <a:ea typeface="Roboto Slab Light"/>
                <a:cs typeface="Roboto Slab Light"/>
                <a:sym typeface="Roboto Slab Light"/>
              </a:rPr>
              <a:t>improved recall but lowered precision for identifying positive major complications</a:t>
            </a:r>
            <a:endParaRPr sz="2700">
              <a:latin typeface="Roboto Slab Light"/>
              <a:ea typeface="Roboto Slab Light"/>
              <a:cs typeface="Roboto Slab Light"/>
              <a:sym typeface="Roboto Slab Light"/>
            </a:endParaRPr>
          </a:p>
          <a:p>
            <a:pPr indent="-311150" lvl="0" marL="342900" rtl="0" algn="l">
              <a:lnSpc>
                <a:spcPct val="105000"/>
              </a:lnSpc>
              <a:spcBef>
                <a:spcPts val="640"/>
              </a:spcBef>
              <a:spcAft>
                <a:spcPts val="0"/>
              </a:spcAft>
              <a:buSzPts val="2700"/>
              <a:buFont typeface="Roboto Slab Light"/>
              <a:buChar char="●"/>
            </a:pPr>
            <a:r>
              <a:rPr b="1" lang="en-US" sz="2700">
                <a:latin typeface="Roboto Slab"/>
                <a:ea typeface="Roboto Slab"/>
                <a:cs typeface="Roboto Slab"/>
                <a:sym typeface="Roboto Slab"/>
              </a:rPr>
              <a:t>Random Forest</a:t>
            </a:r>
            <a:r>
              <a:rPr lang="en-US" sz="2700">
                <a:latin typeface="Roboto Slab Light"/>
                <a:ea typeface="Roboto Slab Light"/>
                <a:cs typeface="Roboto Slab Light"/>
                <a:sym typeface="Roboto Slab Light"/>
              </a:rPr>
              <a:t>: </a:t>
            </a:r>
            <a:r>
              <a:rPr b="1" lang="en-US" sz="2700">
                <a:latin typeface="Roboto Slab"/>
                <a:ea typeface="Roboto Slab"/>
                <a:cs typeface="Roboto Slab"/>
                <a:sym typeface="Roboto Slab"/>
              </a:rPr>
              <a:t>57% recall</a:t>
            </a:r>
            <a:r>
              <a:rPr lang="en-US" sz="2700">
                <a:latin typeface="Roboto Slab Light"/>
                <a:ea typeface="Roboto Slab Light"/>
                <a:cs typeface="Roboto Slab Light"/>
                <a:sym typeface="Roboto Slab Light"/>
              </a:rPr>
              <a:t>, balanced performance (</a:t>
            </a:r>
            <a:r>
              <a:rPr b="1" lang="en-US" sz="2700">
                <a:latin typeface="Roboto Slab"/>
                <a:ea typeface="Roboto Slab"/>
                <a:cs typeface="Roboto Slab"/>
                <a:sym typeface="Roboto Slab"/>
              </a:rPr>
              <a:t>90% overall accuracy</a:t>
            </a:r>
            <a:r>
              <a:rPr lang="en-US" sz="2700">
                <a:latin typeface="Roboto Slab Light"/>
                <a:ea typeface="Roboto Slab Light"/>
                <a:cs typeface="Roboto Slab Light"/>
                <a:sym typeface="Roboto Slab Light"/>
              </a:rPr>
              <a:t>)</a:t>
            </a:r>
            <a:endParaRPr sz="2700">
              <a:latin typeface="Roboto Slab Light"/>
              <a:ea typeface="Roboto Slab Light"/>
              <a:cs typeface="Roboto Slab Light"/>
              <a:sym typeface="Roboto Slab Light"/>
            </a:endParaRPr>
          </a:p>
          <a:p>
            <a:pPr indent="-400050" lvl="1" marL="914400" rtl="0" algn="l">
              <a:lnSpc>
                <a:spcPct val="105000"/>
              </a:lnSpc>
              <a:spcBef>
                <a:spcPts val="1200"/>
              </a:spcBef>
              <a:spcAft>
                <a:spcPts val="1200"/>
              </a:spcAft>
              <a:buSzPts val="2700"/>
              <a:buFont typeface="Roboto Slab Light"/>
              <a:buChar char="○"/>
            </a:pPr>
            <a:r>
              <a:rPr lang="en-US" sz="2700">
                <a:latin typeface="Roboto Slab Light"/>
                <a:ea typeface="Roboto Slab Light"/>
                <a:cs typeface="Roboto Slab Light"/>
                <a:sym typeface="Roboto Slab Light"/>
              </a:rPr>
              <a:t>the value of recall is crucial in a clinical setting</a:t>
            </a:r>
            <a:endParaRPr sz="2700">
              <a:latin typeface="Roboto Slab Light"/>
              <a:ea typeface="Roboto Slab Light"/>
              <a:cs typeface="Roboto Slab Light"/>
              <a:sym typeface="Roboto Slab Light"/>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US" sz="4400">
                <a:solidFill>
                  <a:schemeClr val="dk1"/>
                </a:solidFill>
              </a:rPr>
              <a:t>Business</a:t>
            </a:r>
            <a:r>
              <a:rPr lang="en-US" sz="4400"/>
              <a:t> Interpretation</a:t>
            </a:r>
            <a:r>
              <a:rPr lang="en-US" sz="4400">
                <a:latin typeface="Calibri"/>
                <a:ea typeface="Calibri"/>
                <a:cs typeface="Calibri"/>
                <a:sym typeface="Calibri"/>
              </a:rPr>
              <a:t> </a:t>
            </a:r>
            <a:endParaRPr/>
          </a:p>
        </p:txBody>
      </p:sp>
      <p:sp>
        <p:nvSpPr>
          <p:cNvPr id="183" name="Google Shape;183;p9"/>
          <p:cNvSpPr txBox="1"/>
          <p:nvPr>
            <p:ph idx="1" type="body"/>
          </p:nvPr>
        </p:nvSpPr>
        <p:spPr>
          <a:xfrm>
            <a:off x="646813" y="1645219"/>
            <a:ext cx="8229600" cy="4526100"/>
          </a:xfrm>
          <a:prstGeom prst="rect">
            <a:avLst/>
          </a:prstGeom>
          <a:noFill/>
          <a:ln>
            <a:noFill/>
          </a:ln>
        </p:spPr>
        <p:txBody>
          <a:bodyPr anchorCtr="0" anchor="t" bIns="45700" lIns="91425" spcFirstLastPara="1" rIns="91425" wrap="square" tIns="45700">
            <a:normAutofit/>
          </a:bodyPr>
          <a:lstStyle/>
          <a:p>
            <a:pPr indent="-336550" lvl="0" marL="457200" rtl="0" algn="l">
              <a:lnSpc>
                <a:spcPct val="150000"/>
              </a:lnSpc>
              <a:spcBef>
                <a:spcPts val="640"/>
              </a:spcBef>
              <a:spcAft>
                <a:spcPts val="0"/>
              </a:spcAft>
              <a:buSzPts val="1700"/>
              <a:buFont typeface="Roboto Serif"/>
              <a:buChar char="●"/>
            </a:pPr>
            <a:r>
              <a:rPr lang="en-US" sz="1700">
                <a:latin typeface="Roboto Serif"/>
                <a:ea typeface="Roboto Serif"/>
                <a:cs typeface="Roboto Serif"/>
                <a:sym typeface="Roboto Serif"/>
              </a:rPr>
              <a:t>Identifies high-risk MI patients early, allowing proactive planning.</a:t>
            </a:r>
            <a:endParaRPr sz="1700">
              <a:latin typeface="Roboto Serif"/>
              <a:ea typeface="Roboto Serif"/>
              <a:cs typeface="Roboto Serif"/>
              <a:sym typeface="Roboto Serif"/>
            </a:endParaRPr>
          </a:p>
          <a:p>
            <a:pPr indent="-336550" lvl="0" marL="457200" rtl="0" algn="l">
              <a:lnSpc>
                <a:spcPct val="150000"/>
              </a:lnSpc>
              <a:spcBef>
                <a:spcPts val="0"/>
              </a:spcBef>
              <a:spcAft>
                <a:spcPts val="0"/>
              </a:spcAft>
              <a:buSzPts val="1700"/>
              <a:buFont typeface="Roboto Serif"/>
              <a:buChar char="●"/>
            </a:pPr>
            <a:r>
              <a:rPr lang="en-US" sz="1700">
                <a:latin typeface="Roboto Serif"/>
                <a:ea typeface="Roboto Serif"/>
                <a:cs typeface="Roboto Serif"/>
                <a:sym typeface="Roboto Serif"/>
              </a:rPr>
              <a:t>Enables better allocation of ICU beds, monitoring resources, and specialists —&gt; efficient hospital operations</a:t>
            </a:r>
            <a:endParaRPr sz="1700">
              <a:latin typeface="Roboto Serif"/>
              <a:ea typeface="Roboto Serif"/>
              <a:cs typeface="Roboto Serif"/>
              <a:sym typeface="Roboto Serif"/>
            </a:endParaRPr>
          </a:p>
          <a:p>
            <a:pPr indent="-336550" lvl="0" marL="457200" rtl="0" algn="l">
              <a:lnSpc>
                <a:spcPct val="150000"/>
              </a:lnSpc>
              <a:spcBef>
                <a:spcPts val="0"/>
              </a:spcBef>
              <a:spcAft>
                <a:spcPts val="0"/>
              </a:spcAft>
              <a:buSzPts val="1700"/>
              <a:buFont typeface="Roboto Serif"/>
              <a:buChar char="●"/>
            </a:pPr>
            <a:r>
              <a:rPr lang="en-US" sz="1700">
                <a:latin typeface="Roboto Serif"/>
                <a:ea typeface="Roboto Serif"/>
                <a:cs typeface="Roboto Serif"/>
                <a:sym typeface="Roboto Serif"/>
              </a:rPr>
              <a:t>Helps prevent costly complications and reduces readmission risks.</a:t>
            </a:r>
            <a:endParaRPr sz="1700">
              <a:latin typeface="Roboto Serif"/>
              <a:ea typeface="Roboto Serif"/>
              <a:cs typeface="Roboto Serif"/>
              <a:sym typeface="Roboto Serif"/>
            </a:endParaRPr>
          </a:p>
          <a:p>
            <a:pPr indent="-349250" lvl="0" marL="457200" rtl="0" algn="l">
              <a:lnSpc>
                <a:spcPct val="150000"/>
              </a:lnSpc>
              <a:spcBef>
                <a:spcPts val="0"/>
              </a:spcBef>
              <a:spcAft>
                <a:spcPts val="0"/>
              </a:spcAft>
              <a:buSzPts val="1900"/>
              <a:buFont typeface="Roboto Slab"/>
              <a:buChar char="●"/>
            </a:pPr>
            <a:r>
              <a:rPr lang="en-US" sz="1700">
                <a:latin typeface="Roboto Serif"/>
                <a:ea typeface="Roboto Serif"/>
                <a:cs typeface="Roboto Serif"/>
                <a:sym typeface="Roboto Serif"/>
              </a:rPr>
              <a:t>Lowers false-negative rates, representing an acceptable operational trade-off</a:t>
            </a:r>
            <a:r>
              <a:rPr lang="en-US" sz="1900">
                <a:latin typeface="Roboto Slab"/>
                <a:ea typeface="Roboto Slab"/>
                <a:cs typeface="Roboto Slab"/>
                <a:sym typeface="Roboto Slab"/>
              </a:rPr>
              <a:t>.</a:t>
            </a:r>
            <a:endParaRPr sz="1900">
              <a:latin typeface="Roboto Slab"/>
              <a:ea typeface="Roboto Slab"/>
              <a:cs typeface="Roboto Slab"/>
              <a:sym typeface="Roboto Slab"/>
            </a:endParaRPr>
          </a:p>
        </p:txBody>
      </p:sp>
      <p:pic>
        <p:nvPicPr>
          <p:cNvPr id="184" name="Google Shape;184;p9"/>
          <p:cNvPicPr preferRelativeResize="0"/>
          <p:nvPr/>
        </p:nvPicPr>
        <p:blipFill>
          <a:blip r:embed="rId3">
            <a:alphaModFix/>
          </a:blip>
          <a:stretch>
            <a:fillRect/>
          </a:stretch>
        </p:blipFill>
        <p:spPr>
          <a:xfrm>
            <a:off x="2158637" y="3640200"/>
            <a:ext cx="4826724" cy="3217800"/>
          </a:xfrm>
          <a:prstGeom prst="rect">
            <a:avLst/>
          </a:prstGeom>
          <a:noFill/>
          <a:ln>
            <a:noFill/>
          </a:ln>
        </p:spPr>
      </p:pic>
      <p:sp>
        <p:nvSpPr>
          <p:cNvPr id="185" name="Google Shape;185;p9"/>
          <p:cNvSpPr txBox="1"/>
          <p:nvPr/>
        </p:nvSpPr>
        <p:spPr>
          <a:xfrm>
            <a:off x="2688400" y="3985125"/>
            <a:ext cx="737700" cy="6204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480750" y="2353267"/>
            <a:ext cx="8222100" cy="12099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US" sz="6000"/>
              <a:t>Thank You!</a:t>
            </a:r>
            <a:endParaRPr sz="60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rina">
  <a:themeElements>
    <a:clrScheme name="Marina">
      <a:dk1>
        <a:srgbClr val="FFFFFF"/>
      </a:dk1>
      <a:lt1>
        <a:srgbClr val="00517C"/>
      </a:lt1>
      <a:dk2>
        <a:srgbClr val="004065"/>
      </a:dk2>
      <a:lt2>
        <a:srgbClr val="CFD8DC"/>
      </a:lt2>
      <a:accent1>
        <a:srgbClr val="0277BD"/>
      </a:accent1>
      <a:accent2>
        <a:srgbClr val="558B2F"/>
      </a:accent2>
      <a:accent3>
        <a:srgbClr val="009688"/>
      </a:accent3>
      <a:accent4>
        <a:srgbClr val="039BE5"/>
      </a:accent4>
      <a:accent5>
        <a:srgbClr val="8BC34A"/>
      </a:accent5>
      <a:accent6>
        <a:srgbClr val="FFEB38"/>
      </a:accent6>
      <a:hlink>
        <a:srgbClr val="8BC34A"/>
      </a:hlink>
      <a:folHlink>
        <a:srgbClr val="8BC3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